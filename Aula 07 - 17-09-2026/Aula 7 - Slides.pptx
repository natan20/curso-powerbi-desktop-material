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308" r:id="rId2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9" r:id="rId30"/>
    <p:sldId id="306" r:id="rId27"/>
    <p:sldId id="307" r:id="rId28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500000" y="2900000"/>
            <a:ext cx="71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DDF1FF"/>
                </a:solidFill>
                <a:latin typeface="Calibri"/>
              </a:rPr>
              <a:t>Aula 7</a:t>
            </a:r>
          </a:p>
          <a:p>
            <a:pPr algn="l">
              <a:spcAft>
                <a:spcPts val="800"/>
              </a:spcAft>
            </a:pPr>
            <a:r>
              <a:rPr sz="3500" b="1">
                <a:solidFill>
                  <a:srgbClr val="FFFFFF"/>
                </a:solidFill>
                <a:latin typeface="Calibri"/>
              </a:rPr>
              <a:t>DAX Avançado: CALCULATE e Inteligência de Tempo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Curso: Assistente em Análise de Dados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DDF1FF"/>
                </a:solidFill>
                <a:latin typeface="Calibri"/>
              </a:rPr>
              <a:t>Turma 103788  ·  17/09/2026  ·  13h-17h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13:00 – 13:15   Abertura e recap da aula anterior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13:15 – 14:15   A função CALCULATE e a modificação do contexto de filtro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14:15 – 15:00   Inteligência de tempo: SAMEPERIODLASTYEAR, DATESYTD,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15:00 – 15:15   Intervalo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15:15 – 16:15   Medidas de Vendas Ano Anterior, YTD e variação percentual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16:15 – 16:45   Checklist e ajustes finais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16:45 – 17:00   Fechamento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AULA 7 · 17/09/2026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DAX Avançado: CALCULATE e Inteligência de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1F497D"/>
                </a:solidFill>
                <a:latin typeface="Calibri"/>
              </a:rPr>
              <a:t>Contexto de filtro, CALCULATE e comparações ano a ano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Por que isso importa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"Como estamos em relação ao ano passado?" é uma das perguntas mais comuns em qualquer negócio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CALCULATE e inteligência de tempo são o que tornam essa pergunta respondível em segundos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Conteúdos de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F497D"/>
                </a:solidFill>
                <a:latin typeface="Calibri"/>
              </a:rPr>
              <a:t>MÃO NA MASSA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900" b="1">
                <a:solidFill>
                  <a:srgbClr val="333333"/>
                </a:solidFill>
                <a:latin typeface="Calibri"/>
              </a:rPr>
              <a:t>Atividade prática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Passo a passo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1.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2. Criar medida Vendas YTD com TOTALYTD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3.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4. Exibir as medidas em um cartão ou tabela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Resultado esperado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Medidas de Vendas Ano Anterior e Vendas YTD funcionando corretamente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Uma medida de variação percentual pronta para uso em um cartão ou gráfico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Ano Anterior com SAMEPERIODLASTYEAR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Vendas YTD com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Criar medida Variação % vs Ano Anterior (usando DIVIDE)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Concluiu: Exibir as medidas em um cartão ou tabela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Glossário desta aula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6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CALCULATE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Função DAX que modifica o contexto de filtro de um cálculo.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Contexto de filtro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Conjunto de filtros ativos no momento em que uma medida é calculada.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Inteligência de tempo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Funções DAX para comparar períodos (ano, mês, trimestre).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SAMEPERIODLASTYEAR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Retorna o mesmo período do ano anterior.</a:t>
            </a:r>
          </a:p>
          <a:p>
            <a:pPr algn="l">
              <a:spcAft>
                <a:spcPts val="800"/>
              </a:spcAft>
            </a:pPr>
            <a:r>
              <a:rPr sz="2300" b="1">
                <a:solidFill>
                  <a:srgbClr val="1F497D"/>
                </a:solidFill>
                <a:latin typeface="Calibri"/>
              </a:rPr>
              <a:t>•  YTD (Year-To-Date)</a:t>
            </a:r>
          </a:p>
          <a:p>
            <a:pPr algn="l">
              <a:spcAft>
                <a:spcPts val="800"/>
              </a:spcAft>
            </a:pPr>
            <a:r>
              <a:rPr sz="2100" b="0">
                <a:solidFill>
                  <a:srgbClr val="333333"/>
                </a:solidFill>
                <a:latin typeface="Calibri"/>
              </a:rPr>
              <a:t>Acumulado do início do ano até a data atual.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A função CALCULATE: como ela modifica o contexto de filtro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Exemplos práticos: vendas de uma categoria ou região específica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Funções de inteligência de tempo (dependem da tabela Calendário)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SAMEPERIODLASTYEAR, DATESYTD e TOTALYTD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Comparação ano a ano: cálculo de variação percentual entre períodos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333333"/>
                </a:solidFill>
                <a:latin typeface="Calibri"/>
              </a:rPr>
              <a:t>•  Próxima aula: visualizações: tipos de gráficos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54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54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CALCULATE na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Sintaxe: CALCULATE(&lt;expressão&gt;, &lt;filtro1&gt;, &lt;filtro2&gt;, ...)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CALCULATE é considerada a função mais importante do DAX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Eletrônicos = CALCULATE([Total de Vendas], Vendas[Categoria] = "Eletrônicos")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Vendas Sudeste = CALCULATE([Total de Vendas], Vendas[Região] = "Sudeste")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200" b="1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Para que serve a função CALCULATE?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O que a função SAMEPERIODLASTYEAR faz e de que tabela ela depende?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Por que usar DIVIDE em vez do operador de divisão "/"?</a:t>
            </a:r>
          </a:p>
          <a:p>
            <a:pPr algn="l">
              <a:spcAft>
                <a:spcPts val="800"/>
              </a:spcAft>
            </a:pPr>
            <a:r>
              <a:rPr sz="2300" b="0">
                <a:solidFill>
                  <a:srgbClr val="333333"/>
                </a:solidFill>
                <a:latin typeface="Calibri"/>
              </a:rPr>
              <a:t>•  Dê um exemplo de medida usando TOTALYTD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