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5"/>
    <p:sldId id="295" r:id="rId6"/>
    <p:sldId id="296" r:id="rId7"/>
    <p:sldId id="297" r:id="rId8"/>
    <p:sldId id="298" r:id="rId9"/>
    <p:sldId id="309" r:id="rId10"/>
    <p:sldId id="301" r:id="rId13"/>
    <p:sldId id="302" r:id="rId14"/>
    <p:sldId id="303" r:id="rId15"/>
    <p:sldId id="304" r:id="rId16"/>
    <p:sldId id="305" r:id="rId17"/>
    <p:sldId id="306" r:id="rId18"/>
    <p:sldId id="310" r:id="rId19"/>
    <p:sldId id="307" r:id="rId20"/>
    <p:sldId id="308" r:id="rId21"/>
  </p:sldIdLst>
  <p:sldSz cx="18288000" cy="10287000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Unbounded 1 Ultra-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8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2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Conectando e Transformando Dados com Power Query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02/09/2026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Conectores de dados (Excel, CSV, SQL Server, nuvem, APIs)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Editor Power Query, linguagem M e limpeza de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Limpeza do Vendas_Bruto_Para_Limpeza.xlsx + mesclar com Clientes.csv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2 · 02/09/2026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Conectando e Transformando Dados com Power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Conectores de dados, Editor Power Query e limpeza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Dados no mundo real quase nunca chegam prontos: vêm com erros, duplicidade e formatos diferentes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Sem limpar e combinar as fontes corretamente, qualquer gráfico construído depois estará errado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Conectores de dados: Excel, CSV, SQL Server, serviços em nuvem e APIs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Editor Power Query e a linguagem M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Limpeza de dados: colunas desnecessárias, linhas em branco, duplicatas, valores nulos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Correção de tipos de dados e datas em formatos diferentes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Aparar espaços extras (Trim) e padronizar texto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Mesclar consultas (nível de consulta) x Relacionar no modelo (aula 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Conhecendo o Editor Power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54980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•  Abre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em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uma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janela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própria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: Página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Inicial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→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Transformar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Dados</a:t>
            </a: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Painel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Consultas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(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esquerda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) —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lista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todas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as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fontes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de dados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conectadas</a:t>
            </a:r>
            <a:endParaRPr sz="23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Área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central —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mostra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uma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prévia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da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tabela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sendo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transformada</a:t>
            </a:r>
            <a:endParaRPr sz="23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• 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Painel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Etapas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Aplicadas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(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direita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) —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cada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transformação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vira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uma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etapa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registrada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, que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pode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ser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reordenada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editada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ou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excluída</a:t>
            </a:r>
            <a:endParaRPr sz="23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•  Por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trás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dos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panos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cada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etapa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é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escrita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na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linguagem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M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0F30D01-EEBC-3ACD-7D15-E6CE09669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199" y="5480196"/>
            <a:ext cx="9060741" cy="38932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Mesclar consultas x Relacionar tabelas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Mesclar (Power Query): combina colunas de outra tabela dentro da consulta atual — duplica dados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Relacionar (Modelo): liga duas tabelas sem duplicar dados, mantendo-as separadas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Hoje vamos mesclar Vendas + Clientes no Power Query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Na Aula 3 vamos aprender a relacionar Vendas + Produtos no Modelo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65815"/>
            <a:ext cx="1640000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1.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Abrir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Vendas_Bruto_Para_Limpeza.xlsx no Power Query</a:t>
            </a: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2. Remover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colunas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desnecessárias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linhas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totalmente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em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branco</a:t>
            </a:r>
            <a:endParaRPr sz="23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3. Remover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duplicatas</a:t>
            </a:r>
            <a:endParaRPr sz="23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4.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Corrigir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o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tipo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da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coluna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Data (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formatos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mistos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5.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Aparar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espaços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extras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em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Produto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Vendedor</a:t>
            </a:r>
            <a:endParaRPr sz="23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6.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Padronizar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o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texto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de Canal de Venda</a:t>
            </a:r>
          </a:p>
          <a:p>
            <a:pPr algn="l">
              <a:spcAft>
                <a:spcPts val="800"/>
              </a:spcAft>
            </a:pPr>
            <a:r>
              <a:rPr sz="2300" b="0" dirty="0">
                <a:solidFill>
                  <a:srgbClr val="333333"/>
                </a:solidFill>
                <a:latin typeface="Calibri"/>
              </a:rPr>
              <a:t>7.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Conectar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Clientes.csv 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mesclar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com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Vendas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por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Cliente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,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trazendo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Região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Segmento</a:t>
            </a:r>
            <a:endParaRPr sz="2300" b="0" dirty="0">
              <a:solidFill>
                <a:srgbClr val="333333"/>
              </a:solidFill>
              <a:latin typeface="Calibri"/>
            </a:endParaRPr>
          </a:p>
          <a:p>
            <a:r>
              <a:rPr sz="1900" i="1" dirty="0" err="1">
                <a:solidFill>
                  <a:srgbClr val="595959"/>
                </a:solidFill>
                <a:latin typeface="Calibri"/>
              </a:rPr>
              <a:t>Dica</a:t>
            </a:r>
            <a:r>
              <a:rPr sz="1900" i="1" dirty="0">
                <a:solidFill>
                  <a:srgbClr val="595959"/>
                </a:solidFill>
                <a:latin typeface="Calibri"/>
              </a:rPr>
              <a:t> p/ </a:t>
            </a:r>
            <a:r>
              <a:rPr sz="1900" i="1" dirty="0" err="1">
                <a:solidFill>
                  <a:srgbClr val="595959"/>
                </a:solidFill>
                <a:latin typeface="Calibri"/>
              </a:rPr>
              <a:t>zerar</a:t>
            </a:r>
            <a:r>
              <a:rPr sz="19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900" i="1" dirty="0" err="1">
                <a:solidFill>
                  <a:srgbClr val="595959"/>
                </a:solidFill>
                <a:latin typeface="Calibri"/>
              </a:rPr>
              <a:t>nulos</a:t>
            </a:r>
            <a:r>
              <a:rPr sz="1900" i="1" dirty="0">
                <a:solidFill>
                  <a:srgbClr val="595959"/>
                </a:solidFill>
                <a:latin typeface="Calibri"/>
              </a:rPr>
              <a:t> da </a:t>
            </a:r>
            <a:r>
              <a:rPr sz="1900" i="1" dirty="0" err="1">
                <a:solidFill>
                  <a:srgbClr val="595959"/>
                </a:solidFill>
                <a:latin typeface="Calibri"/>
              </a:rPr>
              <a:t>Região</a:t>
            </a:r>
            <a:r>
              <a:rPr sz="1900" i="1" dirty="0">
                <a:solidFill>
                  <a:srgbClr val="595959"/>
                </a:solidFill>
                <a:latin typeface="Calibri"/>
              </a:rPr>
              <a:t> (</a:t>
            </a:r>
            <a:r>
              <a:rPr sz="1900" i="1" dirty="0" err="1">
                <a:solidFill>
                  <a:srgbClr val="595959"/>
                </a:solidFill>
                <a:latin typeface="Calibri"/>
              </a:rPr>
              <a:t>usa</a:t>
            </a:r>
            <a:r>
              <a:rPr sz="1900" i="1" dirty="0">
                <a:solidFill>
                  <a:srgbClr val="595959"/>
                </a:solidFill>
                <a:latin typeface="Calibri"/>
              </a:rPr>
              <a:t> a </a:t>
            </a:r>
            <a:r>
              <a:rPr sz="1900" i="1" dirty="0" err="1">
                <a:solidFill>
                  <a:srgbClr val="595959"/>
                </a:solidFill>
                <a:latin typeface="Calibri"/>
              </a:rPr>
              <a:t>Região</a:t>
            </a:r>
            <a:r>
              <a:rPr sz="1900" i="1" dirty="0">
                <a:solidFill>
                  <a:srgbClr val="595959"/>
                </a:solidFill>
                <a:latin typeface="Calibri"/>
              </a:rPr>
              <a:t> </a:t>
            </a:r>
            <a:r>
              <a:rPr sz="1900" i="1" dirty="0" err="1">
                <a:solidFill>
                  <a:srgbClr val="595959"/>
                </a:solidFill>
                <a:latin typeface="Calibri"/>
              </a:rPr>
              <a:t>Cliente</a:t>
            </a:r>
            <a:r>
              <a:rPr sz="1900" i="1" dirty="0">
                <a:solidFill>
                  <a:srgbClr val="595959"/>
                </a:solidFill>
                <a:latin typeface="Calibri"/>
              </a:rPr>
              <a:t> da </a:t>
            </a:r>
            <a:r>
              <a:rPr sz="1900" i="1" dirty="0" err="1">
                <a:solidFill>
                  <a:srgbClr val="595959"/>
                </a:solidFill>
                <a:latin typeface="Calibri"/>
              </a:rPr>
              <a:t>mesclagem</a:t>
            </a:r>
            <a:r>
              <a:rPr sz="1900" i="1" dirty="0">
                <a:solidFill>
                  <a:srgbClr val="595959"/>
                </a:solidFill>
                <a:latin typeface="Calibri"/>
              </a:rPr>
              <a:t>): </a:t>
            </a:r>
            <a:r>
              <a:rPr sz="1900" b="1" dirty="0">
                <a:solidFill>
                  <a:srgbClr val="1F497D"/>
                </a:solidFill>
                <a:latin typeface="Consolas"/>
              </a:rPr>
              <a:t>if [</a:t>
            </a:r>
            <a:r>
              <a:rPr sz="1900" b="1" dirty="0" err="1">
                <a:solidFill>
                  <a:srgbClr val="1F497D"/>
                </a:solidFill>
                <a:latin typeface="Consolas"/>
              </a:rPr>
              <a:t>Região</a:t>
            </a:r>
            <a:r>
              <a:rPr sz="1900" b="1" dirty="0">
                <a:solidFill>
                  <a:srgbClr val="1F497D"/>
                </a:solidFill>
                <a:latin typeface="Consolas"/>
              </a:rPr>
              <a:t>] = null then [</a:t>
            </a:r>
            <a:r>
              <a:rPr sz="1900" b="1" dirty="0" err="1">
                <a:solidFill>
                  <a:srgbClr val="1F497D"/>
                </a:solidFill>
                <a:latin typeface="Consolas"/>
              </a:rPr>
              <a:t>Região</a:t>
            </a:r>
            <a:r>
              <a:rPr sz="1900" b="1" dirty="0">
                <a:solidFill>
                  <a:srgbClr val="1F497D"/>
                </a:solidFill>
                <a:latin typeface="Consolas"/>
              </a:rPr>
              <a:t> </a:t>
            </a:r>
            <a:r>
              <a:rPr sz="1900" b="1" dirty="0" err="1">
                <a:solidFill>
                  <a:srgbClr val="1F497D"/>
                </a:solidFill>
                <a:latin typeface="Consolas"/>
              </a:rPr>
              <a:t>Cliente</a:t>
            </a:r>
            <a:r>
              <a:rPr sz="1900" b="1" dirty="0">
                <a:solidFill>
                  <a:srgbClr val="1F497D"/>
                </a:solidFill>
                <a:latin typeface="Consolas"/>
              </a:rPr>
              <a:t>] else [</a:t>
            </a:r>
            <a:r>
              <a:rPr sz="1900" b="1" dirty="0" err="1">
                <a:solidFill>
                  <a:srgbClr val="1F497D"/>
                </a:solidFill>
                <a:latin typeface="Consolas"/>
              </a:rPr>
              <a:t>Região</a:t>
            </a:r>
            <a:r>
              <a:rPr sz="1900" b="1" dirty="0">
                <a:solidFill>
                  <a:srgbClr val="1F497D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Uma tabela Vendas sem duplicatas, sem linhas vazias e com tipos de dados corretos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As colunas Região e Segmento de Clientes já visíveis na tabela de Vendas, trazidas pela mesclagem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Abrir Vendas_Bruto_Para_Limpeza.xlsx no Power Query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Remover colunas desnecessárias e linhas totalmente em branco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Remover duplicatas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Corrigir o tipo da coluna Data (formatos mistos)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Aparar espaços extras em Produto e Vendedor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Padronizar o texto de Canal de Venda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Conectar Clientes.csv e mesclar com Vendas por Cliente, trazendo Região e Segmento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Power Query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Ferramenta de conexão e transformação de dados do Power BI.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Linguagem M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Linguagem usada internamente pelo Power Query para descrever as transformações.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Etapas Aplicadas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Lista de passos de transformação registrados, executados em sequência.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Mesclar consultas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Combinar colunas de duas consultas com base em uma coluna em comum.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Anexar consultas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Empilhar linhas de duas consultas com a mesma estrutura.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Trim / Aparar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Remover espaços em branco extras no início/fim de um texto.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Cite três tipos de conectores de dados do Power BI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Para que serve o Editor Power Query?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Quais problemas de qualidade de dados vimos hoje, e como cada um foi corrigido?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mesclar consultas e criar um relacionamento no Modelo?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Conectores de dados: Excel, CSV, SQL Server, serviços em nuvem e APIs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O Editor Power Query e a linguagem M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Limpeza de dados: colunas desnecessárias, linhas em branco, duplicatas, valores nulos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Correção de tipos de dados e datas em formatos diferentes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Aparar espaços extras (Trim) e padronizar texto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Mesclar consultas (nível de consulta) x Relacionar no modelo (aula 3)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modelagem de dados e relacionamentos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11037</TotalTime>
  <Words>877</Words>
  <Application>Microsoft Office PowerPoint</Application>
  <PresentationFormat>Personalizar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Calibri</vt:lpstr>
      <vt:lpstr>Unbounded 1 Ultra-Bold</vt:lpstr>
      <vt:lpstr>Arial</vt:lpstr>
      <vt:lpstr>Consolas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17</cp:revision>
  <dcterms:created xsi:type="dcterms:W3CDTF">2006-08-16T00:00:00Z</dcterms:created>
  <dcterms:modified xsi:type="dcterms:W3CDTF">2026-08-29T23:23:20Z</dcterms:modified>
  <dc:identifier>DAGGnDa8uXQ</dc:identifier>
</cp:coreProperties>
</file>