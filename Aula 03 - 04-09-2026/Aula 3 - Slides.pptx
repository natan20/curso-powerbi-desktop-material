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3"/>
    <p:sldMasterId id="2147483660" r:id="rId4"/>
  </p:sldMasterIdLst>
  <p:sldIdLst>
    <p:sldId id="294" r:id="rId15"/>
    <p:sldId id="295" r:id="rId16"/>
    <p:sldId id="296" r:id="rId17"/>
    <p:sldId id="297" r:id="rId18"/>
    <p:sldId id="298" r:id="rId19"/>
    <p:sldId id="309" r:id="rId30"/>
    <p:sldId id="301" r:id="rId22"/>
    <p:sldId id="302" r:id="rId23"/>
    <p:sldId id="303" r:id="rId24"/>
    <p:sldId id="304" r:id="rId25"/>
    <p:sldId id="305" r:id="rId26"/>
    <p:sldId id="306" r:id="rId27"/>
    <p:sldId id="310" r:id="rId31"/>
    <p:sldId id="307" r:id="rId28"/>
    <p:sldId id="308" r:id="rId29"/>
  </p:sldIdLst>
  <p:sldSz cx="18288000" cy="10287000"/>
  <p:notesSz cx="6858000" cy="9144000"/>
  <p:embeddedFontLst>
    <p:embeddedFont>
      <p:font typeface="Unbounded 1 Ultra-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22" autoAdjust="0"/>
  </p:normalViewPr>
  <p:slideViewPr>
    <p:cSldViewPr>
      <p:cViewPr varScale="1">
        <p:scale>
          <a:sx n="44" d="100"/>
          <a:sy n="44" d="100"/>
        </p:scale>
        <p:origin x="90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10" Type="http://schemas.openxmlformats.org/officeDocument/2006/relationships/font" Target="fonts/font1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7.xml"/><Relationship Id="rId3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864" y="2900243"/>
            <a:ext cx="13292466" cy="20012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5729" y="5290457"/>
            <a:ext cx="10946736" cy="238589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4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89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1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4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7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26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2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309" y="5999310"/>
            <a:ext cx="13292466" cy="1854253"/>
          </a:xfrm>
        </p:spPr>
        <p:txBody>
          <a:bodyPr anchor="t"/>
          <a:lstStyle>
            <a:lvl1pPr algn="l">
              <a:defRPr sz="544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309" y="3957039"/>
            <a:ext cx="13292466" cy="2042271"/>
          </a:xfrm>
        </p:spPr>
        <p:txBody>
          <a:bodyPr anchor="b"/>
          <a:lstStyle>
            <a:lvl1pPr marL="0" indent="0">
              <a:buNone/>
              <a:defRPr sz="2723">
                <a:solidFill>
                  <a:schemeClr val="tx1">
                    <a:tint val="75000"/>
                  </a:schemeClr>
                </a:solidFill>
              </a:defRPr>
            </a:lvl1pPr>
            <a:lvl2pPr marL="622386" indent="0">
              <a:buNone/>
              <a:defRPr sz="2450">
                <a:solidFill>
                  <a:schemeClr val="tx1">
                    <a:tint val="75000"/>
                  </a:schemeClr>
                </a:solidFill>
              </a:defRPr>
            </a:lvl2pPr>
            <a:lvl3pPr marL="1244773" indent="0">
              <a:buNone/>
              <a:defRPr sz="2178">
                <a:solidFill>
                  <a:schemeClr val="tx1">
                    <a:tint val="75000"/>
                  </a:schemeClr>
                </a:solidFill>
              </a:defRPr>
            </a:lvl3pPr>
            <a:lvl4pPr marL="1867159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4pPr>
            <a:lvl5pPr marL="248954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5pPr>
            <a:lvl6pPr marL="3111932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6pPr>
            <a:lvl7pPr marL="3734318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7pPr>
            <a:lvl8pPr marL="435670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8pPr>
            <a:lvl9pPr marL="4979091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1910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49416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27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089817"/>
            <a:ext cx="6909585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910" y="2960754"/>
            <a:ext cx="6909585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43987" y="2089817"/>
            <a:ext cx="6912299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43987" y="2960754"/>
            <a:ext cx="6912299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4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04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911" y="371715"/>
            <a:ext cx="5144858" cy="1581950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4100" y="371716"/>
            <a:ext cx="8742185" cy="7968103"/>
          </a:xfrm>
        </p:spPr>
        <p:txBody>
          <a:bodyPr/>
          <a:lstStyle>
            <a:lvl1pPr>
              <a:defRPr sz="4356"/>
            </a:lvl1pPr>
            <a:lvl2pPr>
              <a:defRPr sz="3812"/>
            </a:lvl2pPr>
            <a:lvl3pPr>
              <a:defRPr sz="3267"/>
            </a:lvl3pPr>
            <a:lvl4pPr>
              <a:defRPr sz="2723"/>
            </a:lvl4pPr>
            <a:lvl5pPr>
              <a:defRPr sz="2723"/>
            </a:lvl5pPr>
            <a:lvl6pPr>
              <a:defRPr sz="2723"/>
            </a:lvl6pPr>
            <a:lvl7pPr>
              <a:defRPr sz="2723"/>
            </a:lvl7pPr>
            <a:lvl8pPr>
              <a:defRPr sz="2723"/>
            </a:lvl8pPr>
            <a:lvl9pPr>
              <a:defRPr sz="27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911" y="1953666"/>
            <a:ext cx="5144858" cy="6386153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0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96" y="6535270"/>
            <a:ext cx="9382917" cy="771526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65196" y="834198"/>
            <a:ext cx="9382917" cy="5601661"/>
          </a:xfrm>
        </p:spPr>
        <p:txBody>
          <a:bodyPr/>
          <a:lstStyle>
            <a:lvl1pPr marL="0" indent="0">
              <a:buNone/>
              <a:defRPr sz="4356"/>
            </a:lvl1pPr>
            <a:lvl2pPr marL="622386" indent="0">
              <a:buNone/>
              <a:defRPr sz="3812"/>
            </a:lvl2pPr>
            <a:lvl3pPr marL="1244773" indent="0">
              <a:buNone/>
              <a:defRPr sz="3267"/>
            </a:lvl3pPr>
            <a:lvl4pPr marL="1867159" indent="0">
              <a:buNone/>
              <a:defRPr sz="2723"/>
            </a:lvl4pPr>
            <a:lvl5pPr marL="2489545" indent="0">
              <a:buNone/>
              <a:defRPr sz="2723"/>
            </a:lvl5pPr>
            <a:lvl6pPr marL="3111932" indent="0">
              <a:buNone/>
              <a:defRPr sz="2723"/>
            </a:lvl6pPr>
            <a:lvl7pPr marL="3734318" indent="0">
              <a:buNone/>
              <a:defRPr sz="2723"/>
            </a:lvl7pPr>
            <a:lvl8pPr marL="4356705" indent="0">
              <a:buNone/>
              <a:defRPr sz="2723"/>
            </a:lvl8pPr>
            <a:lvl9pPr marL="4979091" indent="0">
              <a:buNone/>
              <a:defRPr sz="272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5196" y="7306797"/>
            <a:ext cx="9382917" cy="1095694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15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98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7691" y="373877"/>
            <a:ext cx="3518594" cy="79659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1910" y="373877"/>
            <a:ext cx="10295145" cy="7965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51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178424"/>
            <a:ext cx="14074375" cy="616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9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44773" rtl="0" eaLnBrk="1" latinLnBrk="0" hangingPunct="1">
        <a:spcBef>
          <a:spcPct val="0"/>
        </a:spcBef>
        <a:buNone/>
        <a:defRPr sz="5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6790" indent="-466790" algn="l" defTabSz="1244773" rtl="0" eaLnBrk="1" latinLnBrk="0" hangingPunct="1">
        <a:spcBef>
          <a:spcPct val="20000"/>
        </a:spcBef>
        <a:buFont typeface="Arial" pitchFamily="34" charset="0"/>
        <a:buChar char="•"/>
        <a:defRPr sz="4356" kern="1200">
          <a:solidFill>
            <a:schemeClr val="tx1"/>
          </a:solidFill>
          <a:latin typeface="+mn-lt"/>
          <a:ea typeface="+mn-ea"/>
          <a:cs typeface="+mn-cs"/>
        </a:defRPr>
      </a:lvl1pPr>
      <a:lvl2pPr marL="1011378" indent="-388991" algn="l" defTabSz="1244773" rtl="0" eaLnBrk="1" latinLnBrk="0" hangingPunct="1">
        <a:spcBef>
          <a:spcPct val="20000"/>
        </a:spcBef>
        <a:buFont typeface="Arial" pitchFamily="34" charset="0"/>
        <a:buChar char="–"/>
        <a:defRPr sz="3812" kern="1200">
          <a:solidFill>
            <a:schemeClr val="tx1"/>
          </a:solidFill>
          <a:latin typeface="+mn-lt"/>
          <a:ea typeface="+mn-ea"/>
          <a:cs typeface="+mn-cs"/>
        </a:defRPr>
      </a:lvl2pPr>
      <a:lvl3pPr marL="1555966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3267" kern="1200">
          <a:solidFill>
            <a:schemeClr val="tx1"/>
          </a:solidFill>
          <a:latin typeface="+mn-lt"/>
          <a:ea typeface="+mn-ea"/>
          <a:cs typeface="+mn-cs"/>
        </a:defRPr>
      </a:lvl3pPr>
      <a:lvl4pPr marL="2178352" indent="-311193" algn="l" defTabSz="1244773" rtl="0" eaLnBrk="1" latinLnBrk="0" hangingPunct="1">
        <a:spcBef>
          <a:spcPct val="20000"/>
        </a:spcBef>
        <a:buFont typeface="Arial" pitchFamily="34" charset="0"/>
        <a:buChar char="–"/>
        <a:defRPr sz="2723" kern="1200">
          <a:solidFill>
            <a:schemeClr val="tx1"/>
          </a:solidFill>
          <a:latin typeface="+mn-lt"/>
          <a:ea typeface="+mn-ea"/>
          <a:cs typeface="+mn-cs"/>
        </a:defRPr>
      </a:lvl4pPr>
      <a:lvl5pPr marL="2800739" indent="-311193" algn="l" defTabSz="1244773" rtl="0" eaLnBrk="1" latinLnBrk="0" hangingPunct="1">
        <a:spcBef>
          <a:spcPct val="20000"/>
        </a:spcBef>
        <a:buFont typeface="Arial" pitchFamily="34" charset="0"/>
        <a:buChar char="»"/>
        <a:defRPr sz="2723" kern="1200">
          <a:solidFill>
            <a:schemeClr val="tx1"/>
          </a:solidFill>
          <a:latin typeface="+mn-lt"/>
          <a:ea typeface="+mn-ea"/>
          <a:cs typeface="+mn-cs"/>
        </a:defRPr>
      </a:lvl5pPr>
      <a:lvl6pPr marL="3423125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6pPr>
      <a:lvl7pPr marL="4045511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7pPr>
      <a:lvl8pPr marL="4667898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8pPr>
      <a:lvl9pPr marL="5290284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1pPr>
      <a:lvl2pPr marL="622386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2pPr>
      <a:lvl3pPr marL="1244773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3pPr>
      <a:lvl4pPr marL="1867159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4pPr>
      <a:lvl5pPr marL="248954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5pPr>
      <a:lvl6pPr marL="3111932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6pPr>
      <a:lvl7pPr marL="3734318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7pPr>
      <a:lvl8pPr marL="435670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8pPr>
      <a:lvl9pPr marL="4979091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2663756"/>
            <a:ext cx="10464817" cy="6594544"/>
          </a:xfrm>
          <a:custGeom>
            <a:avLst/>
            <a:gdLst/>
            <a:ahLst/>
            <a:cxnLst/>
            <a:rect l="l" t="t" r="r" b="b"/>
            <a:pathLst>
              <a:path w="10464817" h="6594544">
                <a:moveTo>
                  <a:pt x="0" y="0"/>
                </a:moveTo>
                <a:lnTo>
                  <a:pt x="10464817" y="0"/>
                </a:lnTo>
                <a:lnTo>
                  <a:pt x="10464817" y="6594544"/>
                </a:lnTo>
                <a:lnTo>
                  <a:pt x="0" y="6594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4348518" cy="2540190"/>
            <a:chOff x="0" y="0"/>
            <a:chExt cx="1145289" cy="66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11824" y="6718110"/>
            <a:ext cx="4348518" cy="2540190"/>
            <a:chOff x="0" y="0"/>
            <a:chExt cx="1145289" cy="6690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729E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911824" y="9548884"/>
            <a:ext cx="4348518" cy="2540190"/>
            <a:chOff x="0" y="0"/>
            <a:chExt cx="1145289" cy="6690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916511" y="4017271"/>
            <a:ext cx="4348518" cy="1175760"/>
            <a:chOff x="0" y="0"/>
            <a:chExt cx="1145289" cy="309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5289" cy="309665"/>
            </a:xfrm>
            <a:custGeom>
              <a:avLst/>
              <a:gdLst/>
              <a:ahLst/>
              <a:cxnLst/>
              <a:rect l="l" t="t" r="r" b="b"/>
              <a:pathLst>
                <a:path w="1145289" h="309665">
                  <a:moveTo>
                    <a:pt x="0" y="0"/>
                  </a:moveTo>
                  <a:lnTo>
                    <a:pt x="1145289" y="0"/>
                  </a:lnTo>
                  <a:lnTo>
                    <a:pt x="1145289" y="309665"/>
                  </a:lnTo>
                  <a:lnTo>
                    <a:pt x="0" y="309665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45289" cy="347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911824" y="2663756"/>
            <a:ext cx="4348518" cy="1180073"/>
            <a:chOff x="0" y="0"/>
            <a:chExt cx="1145289" cy="3108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5289" cy="310801"/>
            </a:xfrm>
            <a:custGeom>
              <a:avLst/>
              <a:gdLst/>
              <a:ahLst/>
              <a:cxnLst/>
              <a:rect l="l" t="t" r="r" b="b"/>
              <a:pathLst>
                <a:path w="1145289" h="310801">
                  <a:moveTo>
                    <a:pt x="0" y="0"/>
                  </a:moveTo>
                  <a:lnTo>
                    <a:pt x="1145289" y="0"/>
                  </a:lnTo>
                  <a:lnTo>
                    <a:pt x="1145289" y="310801"/>
                  </a:lnTo>
                  <a:lnTo>
                    <a:pt x="0" y="310801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45289" cy="34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pic>
        <p:nvPicPr>
          <p:cNvPr id="20" name="Imagem 19" descr="Logotipo&#10;&#10;Descrição gerada automaticamente">
            <a:extLst>
              <a:ext uri="{FF2B5EF4-FFF2-40B4-BE49-F238E27FC236}">
                <a16:creationId xmlns:a16="http://schemas.microsoft.com/office/drawing/2014/main" id="{8A562693-C811-03C7-1589-2D448D8EFA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9001067"/>
            <a:ext cx="2098590" cy="11804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500000" y="2900000"/>
            <a:ext cx="71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DDF1FF"/>
                </a:solidFill>
                <a:latin typeface="Calibri"/>
              </a:rPr>
              <a:t>Aula 3</a:t>
            </a:r>
          </a:p>
          <a:p>
            <a:pPr algn="l">
              <a:spcAft>
                <a:spcPts val="800"/>
              </a:spcAft>
            </a:pPr>
            <a:r>
              <a:rPr sz="3500" b="1">
                <a:solidFill>
                  <a:srgbClr val="FFFFFF"/>
                </a:solidFill>
                <a:latin typeface="Calibri"/>
              </a:rPr>
              <a:t>Modelagem de Dados e Relacionamentos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DDF1FF"/>
                </a:solidFill>
                <a:latin typeface="Calibri"/>
              </a:rPr>
              <a:t>Curso: Assistente em Análise de Dados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DDF1FF"/>
                </a:solidFill>
                <a:latin typeface="Calibri"/>
              </a:rPr>
              <a:t>Turma 103788  ·  04/09/2026  ·  13h-17h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Agenda da aula (4h)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13:00 – 13:15   Abertura e recap da aula anterior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13:15 – 14:15   Modelo de dados semântico e visão de Modelo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14:15 – 15:00   Relacionamentos, esquema estrela, colunas calculadas e medidas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15:00 – 15:15   Intervalo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15:15 – 16:15   Relacionar Vendas + Produtos e criar coluna calculada + medida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16:15 – 16:45   Checklist e ajustes finais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16:45 – 17:00   Fechamento e próximos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F497D"/>
                </a:solidFill>
                <a:latin typeface="Calibri"/>
              </a:rPr>
              <a:t>AULA 3 · 04/09/2026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900" b="1">
                <a:solidFill>
                  <a:srgbClr val="333333"/>
                </a:solidFill>
                <a:latin typeface="Calibri"/>
              </a:rPr>
              <a:t>Modelagem de Dados e Relacionamentos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1F497D"/>
                </a:solidFill>
                <a:latin typeface="Calibri"/>
              </a:rPr>
              <a:t>Visão de Modelo, relacionamentos, colunas calculadas e primeira medida DAX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Por que isso importa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Analisar vendas sem conhecer o produto (categoria, custo) limita muito o que se pode responder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Relacionar tabelas corretamente é o que permite cruzar informações sem duplicar dados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Conteúdos de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O que é um modelo de dados semântico e por que ele importa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Visão de Modelo: criando e organizando tabelas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Relacionamentos entre tabelas: cardinalidade um-para-muitos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Esquema estrela: tabela fato x tabelas dimensão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Colunas calculadas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Introdução a medidas (measures) e à linguagem DAX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Conteúdos de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Relacionamentos entre tabelas: cardinalidade um-para-muitos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Esquema estrela: tabela fato x tabelas dimensão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Tabela fato x tabela dimensão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Tabela fato — registra eventos/transações (ex.: Vendas, um pedido por linha)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Tabela dimensão — descreve atributos que se repetem em vários eventos (ex.: Produtos, Clientes)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Separar em tabelas menores evita dados repetidos e facilita a manutenção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O resultado é um modelo mais rápido e organizado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Conteúdos de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Colunas calculadas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Introdução a medidas (measures) e à linguagem DAX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Mesclar (Aula 2) x Relacionar (hoje)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Mesclar: nível de consulta, duplica colunas dentro da tabela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Relacionar: nível de modelo, tabelas continuam separadas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Hoje vamos relacionar Vendas e Produtos formalmente no Modelo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Essa é a base para o esquema estrela que vamos usar o curso todo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F497D"/>
                </a:solidFill>
                <a:latin typeface="Calibri"/>
              </a:rPr>
              <a:t>MÃO NA MASSA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900" b="1">
                <a:solidFill>
                  <a:srgbClr val="333333"/>
                </a:solidFill>
                <a:latin typeface="Calibri"/>
              </a:rPr>
              <a:t>Atividade prática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Passo a passo da atividade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1. Ir à visão de Modelo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2. Relacionar Vendas e Produtos pela coluna Produto (um-para-muitos)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3. Criar coluna calculada Margem = Valor Total − (Custo Unitário × Quantidade)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4. Criar medida Total de Vendas = SUM(Vendas[Valor Total])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5. Validar o relacionamento com uma tabela simples por Categoria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Resultado esperado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Vendas e Produtos relacionadas na visão de Modelo, sem erros de cardinalidade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Uma medida Total de Vendas funcionando corretamente em qualquer visual do relatório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Checklist da atividade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Ir à visão de Modelo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Relacionar Vendas e Produtos pela coluna Produto (um-para-muitos)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Criar coluna calculada Margem = Valor Total − (Custo Unitário × Quantidade)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Criar medida Total de Vendas = SUM(Vendas[Valor Total])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Validar o relacionamento com uma tabela simples por Categoria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Glossário desta aula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6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Modelo de dados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Conjunto de tabelas e relacionamentos que sustentam cálculos e visuais.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Relacionamento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Ligação entre duas tabelas baseada em uma coluna em comum, sem duplicar dados.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Cardinalidade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Tipo de relação entre as linhas de duas tabelas (ex.: um-para-muitos).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Esquema estrela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Modelo com uma tabela fato central cercada por tabelas dimensão.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Tabela fato / dimensão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Fato = eventos a analisar (Vendas); Dimensão = atributos descritivos (Produtos).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Medida / DAX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Medida: cálculo dinâmico. DAX: linguagem de fórmulas do Power BI.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Perguntas de revisão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O que é um modelo de dados semântico?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O que significa cardinalidade um-para-muitos?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Qual a diferença entre mesclar consultas e relacionar tabelas?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Qual a diferença entre coluna calculada e medida?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O que vimos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O que é um modelo de dados semântico e por que ele importa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Visão de Modelo: criando e organizando tabelas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Relacionamentos entre tabelas: cardinalidade um-para-muitos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Esquema estrela: tabela fato x tabelas dimensão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Colunas calculadas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Introdução a medidas (measures) e à linguagem DAX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Próxima aula: Power Query avançado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-18120"/>
            <a:ext cx="10078328" cy="6744870"/>
          </a:xfrm>
          <a:custGeom>
            <a:avLst/>
            <a:gdLst/>
            <a:ahLst/>
            <a:cxnLst/>
            <a:rect l="l" t="t" r="r" b="b"/>
            <a:pathLst>
              <a:path w="10078328" h="6744870">
                <a:moveTo>
                  <a:pt x="0" y="0"/>
                </a:moveTo>
                <a:lnTo>
                  <a:pt x="10078328" y="0"/>
                </a:lnTo>
                <a:lnTo>
                  <a:pt x="10078328" y="6744869"/>
                </a:lnTo>
                <a:lnTo>
                  <a:pt x="0" y="6744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801" t="-21813" r="-211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078328" y="3794931"/>
            <a:ext cx="7629482" cy="99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5400" dirty="0" err="1">
                <a:solidFill>
                  <a:srgbClr val="FFFFFF"/>
                </a:solidFill>
                <a:latin typeface="Unbounded 1 Ultra-Bold"/>
              </a:rPr>
              <a:t>Gratidão</a:t>
            </a:r>
            <a:r>
              <a:rPr lang="en-US" sz="5400" dirty="0">
                <a:solidFill>
                  <a:srgbClr val="FFFFFF"/>
                </a:solidFill>
                <a:latin typeface="Unbounded 1 Ultra-Bold"/>
              </a:rPr>
              <a:t>!</a:t>
            </a:r>
          </a:p>
        </p:txBody>
      </p:sp>
      <p:sp>
        <p:nvSpPr>
          <p:cNvPr id="4" name="Freeform 4"/>
          <p:cNvSpPr/>
          <p:nvPr/>
        </p:nvSpPr>
        <p:spPr>
          <a:xfrm>
            <a:off x="3177634" y="-162759"/>
            <a:ext cx="6443388" cy="6889508"/>
          </a:xfrm>
          <a:custGeom>
            <a:avLst/>
            <a:gdLst/>
            <a:ahLst/>
            <a:cxnLst/>
            <a:rect l="l" t="t" r="r" b="b"/>
            <a:pathLst>
              <a:path w="6443388" h="6889508">
                <a:moveTo>
                  <a:pt x="0" y="0"/>
                </a:moveTo>
                <a:lnTo>
                  <a:pt x="6443389" y="0"/>
                </a:lnTo>
                <a:lnTo>
                  <a:pt x="6443389" y="6889508"/>
                </a:lnTo>
                <a:lnTo>
                  <a:pt x="0" y="6889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0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0" y="3794931"/>
            <a:ext cx="9304949" cy="5863637"/>
          </a:xfrm>
          <a:custGeom>
            <a:avLst/>
            <a:gdLst/>
            <a:ahLst/>
            <a:cxnLst/>
            <a:rect l="l" t="t" r="r" b="b"/>
            <a:pathLst>
              <a:path w="9304949" h="5863637">
                <a:moveTo>
                  <a:pt x="0" y="0"/>
                </a:moveTo>
                <a:lnTo>
                  <a:pt x="9304949" y="0"/>
                </a:lnTo>
                <a:lnTo>
                  <a:pt x="9304949" y="5863637"/>
                </a:lnTo>
                <a:lnTo>
                  <a:pt x="0" y="5863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C40EC0FA74E64E8146614CB730A4D9" ma:contentTypeVersion="18" ma:contentTypeDescription="Crie um novo documento." ma:contentTypeScope="" ma:versionID="64e3dda2b1a63d799175312bc15f4ace">
  <xsd:schema xmlns:xsd="http://www.w3.org/2001/XMLSchema" xmlns:xs="http://www.w3.org/2001/XMLSchema" xmlns:p="http://schemas.microsoft.com/office/2006/metadata/properties" xmlns:ns2="f61705dd-dd2d-4ab9-9bbf-49e0d21b9022" xmlns:ns3="0798beb3-9d6a-467b-b776-ccfc93473710" targetNamespace="http://schemas.microsoft.com/office/2006/metadata/properties" ma:root="true" ma:fieldsID="483aaa94bd3aaf7c48ed0e08118cf103" ns2:_="" ns3:_="">
    <xsd:import namespace="f61705dd-dd2d-4ab9-9bbf-49e0d21b9022"/>
    <xsd:import namespace="0798beb3-9d6a-467b-b776-ccfc934737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705dd-dd2d-4ab9-9bbf-49e0d21b90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8beb3-9d6a-467b-b776-ccfc9347371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0c32b9-b3cd-4e58-8615-6ab9f3400046}" ma:internalName="TaxCatchAll" ma:showField="CatchAllData" ma:web="0798beb3-9d6a-467b-b776-ccfc934737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197250-31A0-4980-994A-4E66396C85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36358-B574-409C-9149-8485FB1C6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705dd-dd2d-4ab9-9bbf-49e0d21b9022"/>
    <ds:schemaRef ds:uri="0798beb3-9d6a-467b-b776-ccfc93473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10920</TotalTime>
  <Words>2</Words>
  <Application>Microsoft Office PowerPoint</Application>
  <PresentationFormat>Personalizar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Unbounded 1 Ultra-Bold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APRESENTAÇÃO SENAI</dc:title>
  <dc:creator>Alisson de Oliveira da Guia</dc:creator>
  <cp:lastModifiedBy>Ana Claudia Conceição</cp:lastModifiedBy>
  <cp:revision>13</cp:revision>
  <dcterms:created xsi:type="dcterms:W3CDTF">2006-08-16T00:00:00Z</dcterms:created>
  <dcterms:modified xsi:type="dcterms:W3CDTF">2025-01-30T12:04:47Z</dcterms:modified>
  <dc:identifier>DAGGnDa8uXQ</dc:identifier>
</cp:coreProperties>
</file>