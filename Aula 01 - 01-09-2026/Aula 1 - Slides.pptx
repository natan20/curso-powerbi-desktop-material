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5"/>
    <p:sldId id="318" r:id="rId35"/>
    <p:sldId id="295" r:id="rId6"/>
    <p:sldId id="296" r:id="rId7"/>
    <p:sldId id="319" r:id="rId36"/>
    <p:sldId id="320" r:id="rId37"/>
    <p:sldId id="297" r:id="rId8"/>
    <p:sldId id="315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7" r:id="rId23"/>
    <p:sldId id="311" r:id="rId24"/>
    <p:sldId id="312" r:id="rId25"/>
    <p:sldId id="316" r:id="rId26"/>
    <p:sldId id="313" r:id="rId27"/>
    <p:sldId id="314" r:id="rId28"/>
  </p:sldIdLst>
  <p:sldSz cx="18288000" cy="10287000"/>
  <p:notesSz cx="6858000" cy="9144000"/>
  <p:embeddedFontLst>
    <p:embeddedFont>
      <p:font typeface="Unbounded 1 Ultra-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64" autoAdjust="0"/>
  </p:normalViewPr>
  <p:slideViewPr>
    <p:cSldViewPr>
      <p:cViewPr varScale="1">
        <p:scale>
          <a:sx n="54" d="100"/>
          <a:sy n="54" d="100"/>
        </p:scale>
        <p:origin x="78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font" Target="fonts/font1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notesMaster" Target="notesMasters/notesMaster1.xml"/><Relationship Id="rId35" Type="http://schemas.openxmlformats.org/officeDocument/2006/relationships/slide" Target="slides/slide2.xml"/><Relationship Id="rId36" Type="http://schemas.openxmlformats.org/officeDocument/2006/relationships/slide" Target="slides/slide5.xml"/><Relationship Id="rId37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800000"/>
            <a:ext cx="700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1</a:t>
            </a:r>
          </a:p>
          <a:p>
            <a:pPr algn="l">
              <a:spcAft>
                <a:spcPts val="800"/>
              </a:spcAft>
            </a:pPr>
            <a:r>
              <a:rPr sz="3700" b="1">
                <a:solidFill>
                  <a:srgbClr val="FFFFFF"/>
                </a:solidFill>
                <a:latin typeface="Calibri"/>
              </a:rPr>
              <a:t>Introdução ao Power BI Desktop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DDF1FF"/>
                </a:solidFill>
                <a:latin typeface="Calibri"/>
              </a:rPr>
              <a:t>Turma 103788  ·  01/09/2026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Um pouco sobre mim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F497D"/>
                </a:solidFill>
                <a:latin typeface="Calibri"/>
              </a:rPr>
              <a:t>E D U C A Ç Ã 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Bacharelado em Sistemas de Informação — Universidade Estácio de Sá (2016–2021)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Tecnólogo em Banco de Dados — Universidade Cidade de São Paulo (2017–2019)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Pós-Graduação em Administração de Banco de Dados — Universidade Estácio de Sá (2019–2021)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2400" b="1" i="1">
                <a:solidFill>
                  <a:srgbClr val="1F497D"/>
                </a:solidFill>
                <a:latin typeface="Calibri"/>
              </a:rPr>
              <a:t>“Meu objetivo é transformar conhecimento em algo que vocês possam aplicar na prática.”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13:20  Abertura e apresentação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13:20 – 13:50  O que é Business Intelligence?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13:50 – 14:20  Ecossistema Power BI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14:20 – 15:05  Tour pela interface do Power BI Desktop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15:05 – 15:20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15:20 – 16:00  Primeira conexão com dados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16:00 – 16:45  Atividade prática guiada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Fechamento e próximos passos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60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700" b="1">
                <a:solidFill>
                  <a:srgbClr val="1F497D"/>
                </a:solidFill>
                <a:latin typeface="Calibri"/>
              </a:rPr>
              <a:t>Como vocês tomam decisões no trabalho hoje?
Com base em quê?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90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Vamos discutir antes de começar…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Breve história do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Origem: 2010, como suplementos do Excel — Power Pivot, Power Query e Power View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2013–2014: a Microsoft reúne esses suplementos sob o nome “Power BI”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Julho de 2015: lançamento do Power BI Desktop e do Power BI Service, como conhecemos hoje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Hoje: referência mundial em BI self-service, integrado ao Microsoft Fabric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Por que importa: democratizou a análise de dados — antes restrita a ferramentas caras, hoje acessível com uma versão gratuita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O que é Business Intelligence (BI)?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Conjunto de processos, ferramentas e tecnologias para transformar dados brutos em informação útil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caminho do BI:  Dado → Informação → Conhecimento → Decisão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Exemplo: uma lista de vendas (dado) vira "total vendido por região" (informação)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Quando percebemos um padrão (queda recorrente numa região), temos conhecimento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Esse conhecimento sustenta uma decisão concreta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Do dado à decisão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Dado → Informação → Conhecimento → Decisão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Uma lista com 10 mil linhas de vendas é um dado bruto — difícil de interpretar sozinho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Somar essas vendas por região e por mês já vira informação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Perceber que uma região está em queda recorrente nos últimos 3 meses é conhecimento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Esse conhecimento permite uma decisão: reforçar a equipe, investigar a causa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BI no dia a dia da indústria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Produção: acompanhamento de metas e paradas de linha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Qualidade: indicadores de retrabalho e refugo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Manutenção: histórico de falhas e manutenção preventiva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Logística: prazos de entrega e giro de estoque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Comercial: vendas por região, produto, vendedor e canal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100" b="1">
                <a:solidFill>
                  <a:srgbClr val="333333"/>
                </a:solidFill>
                <a:latin typeface="Calibri"/>
              </a:rPr>
              <a:t>Onde o Power BI se encaixa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0">
                <a:solidFill>
                  <a:srgbClr val="1F497D"/>
                </a:solidFill>
                <a:latin typeface="Calibri"/>
              </a:rPr>
              <a:t>Ferramenta de self-service BI da Microsoft — acessível para quem não é programador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Ecossistema Microsoft 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>
                <a:solidFill>
                  <a:srgbClr val="1F497D"/>
                </a:solidFill>
                <a:latin typeface="Calibri"/>
              </a:rPr>
              <a:t>Componentes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Power BI Desktop — autoria, no computador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Power BI Service — nuvem, publicação e colaboração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Power BI Mobile — consumo em celular/tablet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1">
                <a:solidFill>
                  <a:srgbClr val="1F497D"/>
                </a:solidFill>
                <a:latin typeface="Calibri"/>
              </a:rPr>
              <a:t>Nesta disciplina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Vamos trabalhar principalmente no Power BI Desktop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É onde você conecta, transforma, modela e visualiza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•  Publicação no Service fica para etapas futuras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Fluxo típico de trabalho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1) Construir o relatório no Power BI Desktop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2) Publicar no Power BI Service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3) Compartilhar e consumir no navegador ou no Power BI Mobile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Licenciamento: existe versão Free e versão Pro (não é o foco desta aula)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Interface do Power BI Desktop – Faixa de Opções</a:t>
            </a:r>
          </a:p>
        </p:txBody>
      </p:sp>
      <p:pic>
        <p:nvPicPr>
          <p:cNvPr id="13" name="Faixa de Opcoes Power BI" descr="Faixa de opcoes do Power BI Desktop com as guias Pagina Inicial, Inserir, Modelagem e Exibicao numeradas e destacad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3050000"/>
            <a:ext cx="16400000" cy="24343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0000" y="5634375"/>
            <a:ext cx="16400000" cy="3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2E86DE"/>
                </a:solidFill>
                <a:latin typeface="Calibri"/>
              </a:rPr>
              <a:t>•  </a:t>
            </a:r>
            <a:r>
              <a:rPr sz="2300" b="0">
                <a:solidFill>
                  <a:srgbClr val="333333"/>
                </a:solidFill>
                <a:latin typeface="Calibri"/>
              </a:rPr>
              <a:t>Guia Página Inicial: obter dados, colar, atualizar, novos elementos visuais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0AC84"/>
                </a:solidFill>
                <a:latin typeface="Calibri"/>
              </a:rPr>
              <a:t>•  </a:t>
            </a:r>
            <a:r>
              <a:rPr sz="2300" b="0">
                <a:solidFill>
                  <a:srgbClr val="333333"/>
                </a:solidFill>
                <a:latin typeface="Calibri"/>
              </a:rPr>
              <a:t>Guia Inserir: novos visuais, botões, formas, textos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EE5A24"/>
                </a:solidFill>
                <a:latin typeface="Calibri"/>
              </a:rPr>
              <a:t>•  </a:t>
            </a:r>
            <a:r>
              <a:rPr sz="2300" b="0">
                <a:solidFill>
                  <a:srgbClr val="333333"/>
                </a:solidFill>
                <a:latin typeface="Calibri"/>
              </a:rPr>
              <a:t>Guia Modelagem: novas medidas, colunas calculadas, relacionamentos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8854D0"/>
                </a:solidFill>
                <a:latin typeface="Calibri"/>
              </a:rPr>
              <a:t>•  </a:t>
            </a:r>
            <a:r>
              <a:rPr sz="2300" b="0">
                <a:solidFill>
                  <a:srgbClr val="333333"/>
                </a:solidFill>
                <a:latin typeface="Calibri"/>
              </a:rPr>
              <a:t>Guia Exibir: temas, layout de página, painéis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As três visões – Relatório</a:t>
            </a:r>
          </a:p>
        </p:txBody>
      </p:sp>
      <p:pic>
        <p:nvPicPr>
          <p:cNvPr id="13" name="Captura Power BI Desk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00" y="3269877"/>
            <a:ext cx="7900000" cy="5860246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00000" y="3050000"/>
            <a:ext cx="82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Tela principal de trabalho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Onde os gráficos, tabelas e cartões são montados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Cada página do relatório é uma aba na parte inferior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É o que o usuário final vê ao abrir o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As três visões – Dados</a:t>
            </a:r>
          </a:p>
        </p:txBody>
      </p:sp>
      <p:pic>
        <p:nvPicPr>
          <p:cNvPr id="13" name="Captura Power BI Desk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00" y="3576071"/>
            <a:ext cx="7900000" cy="5247857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00000" y="3050000"/>
            <a:ext cx="82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Mostra as tabelas carregadas linha por linha, como uma planilha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Serve para conferir os dados importados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É onde se criam colunas calculadas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Ajuda a identificar o tipo de cada coluna (texto, número, data)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As três visões – Modelo</a:t>
            </a:r>
          </a:p>
        </p:txBody>
      </p:sp>
      <p:pic>
        <p:nvPicPr>
          <p:cNvPr id="13" name="Captura Power BI Desk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00" y="3576071"/>
            <a:ext cx="7900000" cy="5247857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00000" y="3050000"/>
            <a:ext cx="82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Mostra as tabelas em formato de caixas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Mostra os relacionamentos (linhas) entre tabelas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Com uma tabela só, ainda não há relacionamentos para ver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Ganha importância a partir da Aula 3, com múltiplas tabelas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Painéis do lado direito</a:t>
            </a:r>
          </a:p>
        </p:txBody>
      </p:sp>
      <p:pic>
        <p:nvPicPr>
          <p:cNvPr id="13" name="Captura Power BI Desk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00" y="3511805"/>
            <a:ext cx="7900000" cy="5376389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00000" y="3050000"/>
            <a:ext cx="8500000" cy="262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 dirty="0">
                <a:solidFill>
                  <a:srgbClr val="2E86DE"/>
                </a:solidFill>
                <a:latin typeface="Calibri"/>
              </a:rPr>
              <a:t>• 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Painel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Filtros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—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filtros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página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, de visual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ou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do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relatório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inteiro</a:t>
            </a:r>
            <a:endParaRPr lang="pt-BR" sz="2300" b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endParaRPr sz="2300" b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2300" b="1" dirty="0">
                <a:solidFill>
                  <a:srgbClr val="10AC84"/>
                </a:solidFill>
                <a:latin typeface="Calibri"/>
              </a:rPr>
              <a:t>• 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Painel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Visualizações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—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tipos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gráfico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opções</a:t>
            </a:r>
            <a:r>
              <a:rPr sz="2300" b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2300" b="0" dirty="0" err="1">
                <a:solidFill>
                  <a:srgbClr val="333333"/>
                </a:solidFill>
                <a:latin typeface="Calibri"/>
              </a:rPr>
              <a:t>formatação</a:t>
            </a:r>
            <a:endParaRPr lang="pt-BR" sz="2300" b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br>
              <a:rPr lang="pt-BR" sz="2300" b="0" dirty="0">
                <a:solidFill>
                  <a:srgbClr val="333333"/>
                </a:solidFill>
                <a:latin typeface="Calibri"/>
              </a:rPr>
            </a:br>
            <a:r>
              <a:rPr lang="pt-BR" sz="2300" b="1" dirty="0">
                <a:solidFill>
                  <a:srgbClr val="EE5A24"/>
                </a:solidFill>
              </a:rPr>
              <a:t>•  </a:t>
            </a:r>
            <a:r>
              <a:rPr lang="pt-BR" sz="2300" dirty="0">
                <a:solidFill>
                  <a:srgbClr val="333333"/>
                </a:solidFill>
              </a:rPr>
              <a:t>Painel Dados — lista as tabelas e colunas disponíveis</a:t>
            </a:r>
          </a:p>
          <a:p>
            <a:pPr algn="l">
              <a:spcAft>
                <a:spcPts val="800"/>
              </a:spcAft>
            </a:pPr>
            <a:endParaRPr sz="2300" b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Área de tela e o arquivo .pbix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Área de tela (canvas): espaço em branco onde os visuais são posicionados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Arquivo salvo com a extensão .pbix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Salvar com frequência: Ctrl+S ou Arquivo &gt; Salvar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PRÓXIMO PASSO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100" b="1">
                <a:solidFill>
                  <a:srgbClr val="333333"/>
                </a:solidFill>
                <a:latin typeface="Calibri"/>
              </a:rPr>
              <a:t>Conectando a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500" b="0">
                <a:solidFill>
                  <a:srgbClr val="1F497D"/>
                </a:solidFill>
                <a:latin typeface="Calibri"/>
              </a:rPr>
              <a:t>Hoje: Excel  ·  Na Aula 2: SQL Server, nuvem, APIs e mais conectores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Passo a passo: conectar ao Excel</a:t>
            </a:r>
          </a:p>
        </p:txBody>
      </p:sp>
      <p:pic>
        <p:nvPicPr>
          <p:cNvPr id="13" name="Captura Power BI Desk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782" y="3050000"/>
            <a:ext cx="7030435" cy="63000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00000" y="3050000"/>
            <a:ext cx="82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1. Página Inicial → Obter Dados → Excel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2. Selecionar o arquivo "Aula 1 - Dados de Exemplo - Vendas.xlsx"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3. Marcar a planilha "Vendas" na janela do Navegador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4. Clicar em Carregar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333333"/>
                </a:solidFill>
                <a:latin typeface="Calibri"/>
              </a:rPr>
              <a:t>5. Abrir a visão de Dados e conferir a tabela carregada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Criando sua primeira visualização</a:t>
            </a:r>
          </a:p>
        </p:txBody>
      </p:sp>
      <p:pic>
        <p:nvPicPr>
          <p:cNvPr id="13" name="Captura Power BI Deskt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5929" y="4610100"/>
            <a:ext cx="8693427" cy="312420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900000" y="3050000"/>
            <a:ext cx="82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 dirty="0">
                <a:solidFill>
                  <a:srgbClr val="333333"/>
                </a:solidFill>
                <a:latin typeface="Calibri"/>
              </a:rPr>
              <a:t>1.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Selecionar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o visual de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Gráfico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Colunas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no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painel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Visualizações</a:t>
            </a:r>
            <a:endParaRPr sz="2200" b="0" dirty="0">
              <a:solidFill>
                <a:srgbClr val="333333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2200" b="0" dirty="0">
                <a:solidFill>
                  <a:srgbClr val="333333"/>
                </a:solidFill>
                <a:latin typeface="Calibri"/>
              </a:rPr>
              <a:t>2.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Arrastar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o campo "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Região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" para o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Eixo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X</a:t>
            </a:r>
          </a:p>
          <a:p>
            <a:pPr algn="l">
              <a:spcAft>
                <a:spcPts val="800"/>
              </a:spcAft>
            </a:pPr>
            <a:r>
              <a:rPr sz="2200" b="0" dirty="0">
                <a:solidFill>
                  <a:srgbClr val="333333"/>
                </a:solidFill>
                <a:latin typeface="Calibri"/>
              </a:rPr>
              <a:t>3.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Arrastar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o campo "Valor Total" para Valores</a:t>
            </a:r>
          </a:p>
          <a:p>
            <a:pPr algn="l">
              <a:spcAft>
                <a:spcPts val="800"/>
              </a:spcAft>
            </a:pPr>
            <a:r>
              <a:rPr sz="2200" b="0" dirty="0">
                <a:solidFill>
                  <a:srgbClr val="333333"/>
                </a:solidFill>
                <a:latin typeface="Calibri"/>
              </a:rPr>
              <a:t>4.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Observar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o total de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vendas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somado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automaticamente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333333"/>
                </a:solidFill>
                <a:latin typeface="Calibri"/>
              </a:rPr>
              <a:t>região</a:t>
            </a:r>
            <a:endParaRPr sz="2200" b="0" dirty="0">
              <a:solidFill>
                <a:srgbClr val="333333"/>
              </a:solidFill>
              <a:latin typeface="Calibri"/>
            </a:endParaRPr>
          </a:p>
          <a:p>
            <a:r>
              <a:rPr sz="2200" b="1">
                <a:solidFill>
                  <a:srgbClr val="333333"/>
                </a:solidFill>
                <a:latin typeface="Calibri"/>
              </a:rPr>
              <a:t>Por que assim? </a:t>
            </a:r>
            <a:r>
              <a:rPr sz="2200" b="0" i="1">
                <a:solidFill>
                  <a:srgbClr val="333333"/>
                </a:solidFill>
                <a:latin typeface="Calibri"/>
              </a:rPr>
              <a:t>Colunas comparam valores entre categorias: cada categoria vira uma coluna no Eixo X, e a altura dela (Eixo Y/Valores) mostra a quantidade — assim dá pra comparar visualmente qual é maior.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Atividade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Arquivo: "Aula 1 - Dados de Exemplo - Vendas.xlsx"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Repita sozinho(a) (ou em dupla) a conexão que acabamos de demonstrar: conectar e carregar a tabela "Vendas"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Criar um visual de Total de Vendas por Vendedor</a:t>
            </a:r>
            <a:r>
              <a:rPr sz="1800" i="1">
                <a:solidFill>
                  <a:srgbClr val="7A7A7A"/>
                </a:solidFill>
                <a:latin typeface="Calibri"/>
              </a:rPr>
              <a:t>  (Colunas)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Criar um visual de Quantidade por Categoria</a:t>
            </a:r>
            <a:r>
              <a:rPr sz="1800" i="1">
                <a:solidFill>
                  <a:srgbClr val="7A7A7A"/>
                </a:solidFill>
                <a:latin typeface="Calibri"/>
              </a:rPr>
              <a:t>  (Colunas ou Pizza)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Desafio extra: Total de Vendas por Canal de Venda</a:t>
            </a:r>
            <a:r>
              <a:rPr sz="1800" i="1">
                <a:solidFill>
                  <a:srgbClr val="7A7A7A"/>
                </a:solidFill>
                <a:latin typeface="Calibri"/>
              </a:rPr>
              <a:t>  (Cartões)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Salvar como "Aula1_SeuNome.pbix"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Conectou ao arquivo e carregou os dados com sucesso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Consegue explicar o que aparece na visão de Dados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Criou pelo menos 2 visualizações diferentes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Salvou o arquivo com o nome padrão combinado em aula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BI (Business Intelligence)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Conjunto de práticas e ferramentas para transformar dados em informação útil para decisões.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Dashboard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Painel visual que reúne indicadores e gráficos para acompanhamento rápido de um assunto.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Relatório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No Power BI, o conjunto de páginas com visuais construído no Desktop e publicado no Service.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Dataset (conjunto de dados)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Os dados carregados e modelados dentro de um arquivo do Power BI.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Medida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Cálculo (soma, média, contagem) definido em DAX, usado nos visuais. Veremos em detalhe na Aula 3.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.pbix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Extensão do arquivo salvo pelo Power BI Desktop.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 que é BI e onde o Power BI se encaixa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Os três componentes do ecossistema Power BI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A interface do Power BI Desktop e as três visões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Como conectar a uma planilha Excel e carregar dados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Como criar uma primeira visualização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Próxima aula (02/09): conectores de dados e Power Query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7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Exemplo: um dashboard no Power BI</a:t>
            </a:r>
          </a:p>
        </p:txBody>
      </p:sp>
      <p:pic>
        <p:nvPicPr>
          <p:cNvPr id="12" name="Picture 11" descr="ChatGPT Image 30 de ago. de 2026, 18_26_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000" y="3100000"/>
            <a:ext cx="9450000" cy="63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10964</TotalTime>
  <Words>1170</Words>
  <Application>Microsoft Office PowerPoint</Application>
  <PresentationFormat>Personalizar</PresentationFormat>
  <Paragraphs>128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Calibri</vt:lpstr>
      <vt:lpstr>Arial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17</cp:revision>
  <dcterms:created xsi:type="dcterms:W3CDTF">2006-08-16T00:00:00Z</dcterms:created>
  <dcterms:modified xsi:type="dcterms:W3CDTF">2026-08-29T14:17:11Z</dcterms:modified>
  <dc:identifier>DAGGnDa8uXQ</dc:identifier>
</cp:coreProperties>
</file>