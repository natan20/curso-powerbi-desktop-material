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3"/>
    <p:sldMasterId id="2147483660" r:id="rId4"/>
  </p:sldMasterIdLst>
  <p:sldIdLst>
    <p:sldId id="294" r:id="rId5"/>
    <p:sldId id="295" r:id="rId6"/>
    <p:sldId id="296" r:id="rId7"/>
    <p:sldId id="297" r:id="rId8"/>
    <p:sldId id="315" r:id="rId9"/>
    <p:sldId id="298" r:id="rId10"/>
    <p:sldId id="299" r:id="rId11"/>
    <p:sldId id="300" r:id="rId12"/>
    <p:sldId id="301" r:id="rId13"/>
    <p:sldId id="302" r:id="rId14"/>
    <p:sldId id="303" r:id="rId15"/>
    <p:sldId id="304" r:id="rId16"/>
    <p:sldId id="305" r:id="rId17"/>
    <p:sldId id="306" r:id="rId18"/>
    <p:sldId id="307" r:id="rId19"/>
    <p:sldId id="308" r:id="rId20"/>
    <p:sldId id="309" r:id="rId21"/>
    <p:sldId id="310" r:id="rId22"/>
    <p:sldId id="317" r:id="rId23"/>
    <p:sldId id="311" r:id="rId24"/>
    <p:sldId id="312" r:id="rId25"/>
    <p:sldId id="316" r:id="rId26"/>
    <p:sldId id="313" r:id="rId27"/>
    <p:sldId id="314" r:id="rId28"/>
  </p:sldIdLst>
  <p:sldSz cx="18288000" cy="10287000"/>
  <p:notesSz cx="6858000" cy="9144000"/>
  <p:embeddedFontLst>
    <p:embeddedFont>
      <p:font typeface="Unbounded 1 Ultra-Bold" panose="020B0604020202020204" charset="0"/>
      <p:regular r:id="rId29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CC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édio 2 - Ênfase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000" autoAdjust="0"/>
    <p:restoredTop sz="94564" autoAdjust="0"/>
  </p:normalViewPr>
  <p:slideViewPr>
    <p:cSldViewPr>
      <p:cViewPr varScale="1">
        <p:scale>
          <a:sx n="54" d="100"/>
          <a:sy n="54" d="100"/>
        </p:scale>
        <p:origin x="782" y="67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slideMaster" Target="slideMasters/slideMaster1.xml"/><Relationship Id="rId4" Type="http://schemas.openxmlformats.org/officeDocument/2006/relationships/slideMaster" Target="slideMasters/slideMaster2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6.xml"/><Relationship Id="rId11" Type="http://schemas.openxmlformats.org/officeDocument/2006/relationships/slide" Target="slides/slide7.xml"/><Relationship Id="rId12" Type="http://schemas.openxmlformats.org/officeDocument/2006/relationships/slide" Target="slides/slide8.xml"/><Relationship Id="rId13" Type="http://schemas.openxmlformats.org/officeDocument/2006/relationships/slide" Target="slides/slide9.xml"/><Relationship Id="rId14" Type="http://schemas.openxmlformats.org/officeDocument/2006/relationships/slide" Target="slides/slide10.xml"/><Relationship Id="rId15" Type="http://schemas.openxmlformats.org/officeDocument/2006/relationships/slide" Target="slides/slide11.xml"/><Relationship Id="rId16" Type="http://schemas.openxmlformats.org/officeDocument/2006/relationships/slide" Target="slides/slide12.xml"/><Relationship Id="rId17" Type="http://schemas.openxmlformats.org/officeDocument/2006/relationships/slide" Target="slides/slide13.xml"/><Relationship Id="rId18" Type="http://schemas.openxmlformats.org/officeDocument/2006/relationships/slide" Target="slides/slide14.xml"/><Relationship Id="rId19" Type="http://schemas.openxmlformats.org/officeDocument/2006/relationships/slide" Target="slides/slide15.xml"/><Relationship Id="rId20" Type="http://schemas.openxmlformats.org/officeDocument/2006/relationships/slide" Target="slides/slide16.xml"/><Relationship Id="rId21" Type="http://schemas.openxmlformats.org/officeDocument/2006/relationships/slide" Target="slides/slide17.xml"/><Relationship Id="rId22" Type="http://schemas.openxmlformats.org/officeDocument/2006/relationships/slide" Target="slides/slide18.xml"/><Relationship Id="rId23" Type="http://schemas.openxmlformats.org/officeDocument/2006/relationships/slide" Target="slides/slide19.xml"/><Relationship Id="rId24" Type="http://schemas.openxmlformats.org/officeDocument/2006/relationships/slide" Target="slides/slide20.xml"/><Relationship Id="rId25" Type="http://schemas.openxmlformats.org/officeDocument/2006/relationships/slide" Target="slides/slide21.xml"/><Relationship Id="rId26" Type="http://schemas.openxmlformats.org/officeDocument/2006/relationships/slide" Target="slides/slide22.xml"/><Relationship Id="rId27" Type="http://schemas.openxmlformats.org/officeDocument/2006/relationships/slide" Target="slides/slide23.xml"/><Relationship Id="rId28" Type="http://schemas.openxmlformats.org/officeDocument/2006/relationships/slide" Target="slides/slide24.xml"/><Relationship Id="rId29" Type="http://schemas.openxmlformats.org/officeDocument/2006/relationships/font" Target="fonts/font1.fntdata"/><Relationship Id="rId30" Type="http://schemas.openxmlformats.org/officeDocument/2006/relationships/presProps" Target="presProps.xml"/><Relationship Id="rId31" Type="http://schemas.openxmlformats.org/officeDocument/2006/relationships/viewProps" Target="viewProps.xml"/><Relationship Id="rId32" Type="http://schemas.openxmlformats.org/officeDocument/2006/relationships/theme" Target="theme/theme1.xml"/><Relationship Id="rId33" Type="http://schemas.openxmlformats.org/officeDocument/2006/relationships/tableStyles" Target="tableStyles.xml"/><Relationship Id="rId34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8/29/2026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8/29/2026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8/29/2026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8/29/2026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8/29/2026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8/29/2026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72864" y="2900243"/>
            <a:ext cx="13292466" cy="2001211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345729" y="5290457"/>
            <a:ext cx="10946736" cy="2385892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62238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124477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86715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248954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311193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373431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435670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497909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692617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374232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35309" y="5999310"/>
            <a:ext cx="13292466" cy="1854253"/>
          </a:xfrm>
        </p:spPr>
        <p:txBody>
          <a:bodyPr anchor="t"/>
          <a:lstStyle>
            <a:lvl1pPr algn="l">
              <a:defRPr sz="5445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35309" y="3957039"/>
            <a:ext cx="13292466" cy="2042271"/>
          </a:xfrm>
        </p:spPr>
        <p:txBody>
          <a:bodyPr anchor="b"/>
          <a:lstStyle>
            <a:lvl1pPr marL="0" indent="0">
              <a:buNone/>
              <a:defRPr sz="2723">
                <a:solidFill>
                  <a:schemeClr val="tx1">
                    <a:tint val="75000"/>
                  </a:schemeClr>
                </a:solidFill>
              </a:defRPr>
            </a:lvl1pPr>
            <a:lvl2pPr marL="622386" indent="0">
              <a:buNone/>
              <a:defRPr sz="2450">
                <a:solidFill>
                  <a:schemeClr val="tx1">
                    <a:tint val="75000"/>
                  </a:schemeClr>
                </a:solidFill>
              </a:defRPr>
            </a:lvl2pPr>
            <a:lvl3pPr marL="1244773" indent="0">
              <a:buNone/>
              <a:defRPr sz="2178">
                <a:solidFill>
                  <a:schemeClr val="tx1">
                    <a:tint val="75000"/>
                  </a:schemeClr>
                </a:solidFill>
              </a:defRPr>
            </a:lvl3pPr>
            <a:lvl4pPr marL="1867159" indent="0">
              <a:buNone/>
              <a:defRPr sz="1906">
                <a:solidFill>
                  <a:schemeClr val="tx1">
                    <a:tint val="75000"/>
                  </a:schemeClr>
                </a:solidFill>
              </a:defRPr>
            </a:lvl4pPr>
            <a:lvl5pPr marL="2489545" indent="0">
              <a:buNone/>
              <a:defRPr sz="1906">
                <a:solidFill>
                  <a:schemeClr val="tx1">
                    <a:tint val="75000"/>
                  </a:schemeClr>
                </a:solidFill>
              </a:defRPr>
            </a:lvl5pPr>
            <a:lvl6pPr marL="3111932" indent="0">
              <a:buNone/>
              <a:defRPr sz="1906">
                <a:solidFill>
                  <a:schemeClr val="tx1">
                    <a:tint val="75000"/>
                  </a:schemeClr>
                </a:solidFill>
              </a:defRPr>
            </a:lvl6pPr>
            <a:lvl7pPr marL="3734318" indent="0">
              <a:buNone/>
              <a:defRPr sz="1906">
                <a:solidFill>
                  <a:schemeClr val="tx1">
                    <a:tint val="75000"/>
                  </a:schemeClr>
                </a:solidFill>
              </a:defRPr>
            </a:lvl7pPr>
            <a:lvl8pPr marL="4356705" indent="0">
              <a:buNone/>
              <a:defRPr sz="1906">
                <a:solidFill>
                  <a:schemeClr val="tx1">
                    <a:tint val="75000"/>
                  </a:schemeClr>
                </a:solidFill>
              </a:defRPr>
            </a:lvl8pPr>
            <a:lvl9pPr marL="4979091" indent="0">
              <a:buNone/>
              <a:defRPr sz="1906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679526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781910" y="2178424"/>
            <a:ext cx="6906869" cy="6161395"/>
          </a:xfrm>
        </p:spPr>
        <p:txBody>
          <a:bodyPr/>
          <a:lstStyle>
            <a:lvl1pPr>
              <a:defRPr sz="3812"/>
            </a:lvl1pPr>
            <a:lvl2pPr>
              <a:defRPr sz="3267"/>
            </a:lvl2pPr>
            <a:lvl3pPr>
              <a:defRPr sz="2723"/>
            </a:lvl3pPr>
            <a:lvl4pPr>
              <a:defRPr sz="2450"/>
            </a:lvl4pPr>
            <a:lvl5pPr>
              <a:defRPr sz="2450"/>
            </a:lvl5pPr>
            <a:lvl6pPr>
              <a:defRPr sz="2450"/>
            </a:lvl6pPr>
            <a:lvl7pPr>
              <a:defRPr sz="2450"/>
            </a:lvl7pPr>
            <a:lvl8pPr>
              <a:defRPr sz="2450"/>
            </a:lvl8pPr>
            <a:lvl9pPr>
              <a:defRPr sz="24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949416" y="2178424"/>
            <a:ext cx="6906869" cy="6161395"/>
          </a:xfrm>
        </p:spPr>
        <p:txBody>
          <a:bodyPr/>
          <a:lstStyle>
            <a:lvl1pPr>
              <a:defRPr sz="3812"/>
            </a:lvl1pPr>
            <a:lvl2pPr>
              <a:defRPr sz="3267"/>
            </a:lvl2pPr>
            <a:lvl3pPr>
              <a:defRPr sz="2723"/>
            </a:lvl3pPr>
            <a:lvl4pPr>
              <a:defRPr sz="2450"/>
            </a:lvl4pPr>
            <a:lvl5pPr>
              <a:defRPr sz="2450"/>
            </a:lvl5pPr>
            <a:lvl6pPr>
              <a:defRPr sz="2450"/>
            </a:lvl6pPr>
            <a:lvl7pPr>
              <a:defRPr sz="2450"/>
            </a:lvl7pPr>
            <a:lvl8pPr>
              <a:defRPr sz="2450"/>
            </a:lvl8pPr>
            <a:lvl9pPr>
              <a:defRPr sz="24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8/29/2026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21727675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81910" y="2089817"/>
            <a:ext cx="6909585" cy="870937"/>
          </a:xfrm>
        </p:spPr>
        <p:txBody>
          <a:bodyPr anchor="b"/>
          <a:lstStyle>
            <a:lvl1pPr marL="0" indent="0">
              <a:buNone/>
              <a:defRPr sz="3267" b="1"/>
            </a:lvl1pPr>
            <a:lvl2pPr marL="622386" indent="0">
              <a:buNone/>
              <a:defRPr sz="2723" b="1"/>
            </a:lvl2pPr>
            <a:lvl3pPr marL="1244773" indent="0">
              <a:buNone/>
              <a:defRPr sz="2450" b="1"/>
            </a:lvl3pPr>
            <a:lvl4pPr marL="1867159" indent="0">
              <a:buNone/>
              <a:defRPr sz="2178" b="1"/>
            </a:lvl4pPr>
            <a:lvl5pPr marL="2489545" indent="0">
              <a:buNone/>
              <a:defRPr sz="2178" b="1"/>
            </a:lvl5pPr>
            <a:lvl6pPr marL="3111932" indent="0">
              <a:buNone/>
              <a:defRPr sz="2178" b="1"/>
            </a:lvl6pPr>
            <a:lvl7pPr marL="3734318" indent="0">
              <a:buNone/>
              <a:defRPr sz="2178" b="1"/>
            </a:lvl7pPr>
            <a:lvl8pPr marL="4356705" indent="0">
              <a:buNone/>
              <a:defRPr sz="2178" b="1"/>
            </a:lvl8pPr>
            <a:lvl9pPr marL="4979091" indent="0">
              <a:buNone/>
              <a:defRPr sz="2178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81910" y="2960754"/>
            <a:ext cx="6909585" cy="5379064"/>
          </a:xfrm>
        </p:spPr>
        <p:txBody>
          <a:bodyPr/>
          <a:lstStyle>
            <a:lvl1pPr>
              <a:defRPr sz="3267"/>
            </a:lvl1pPr>
            <a:lvl2pPr>
              <a:defRPr sz="2723"/>
            </a:lvl2pPr>
            <a:lvl3pPr>
              <a:defRPr sz="2450"/>
            </a:lvl3pPr>
            <a:lvl4pPr>
              <a:defRPr sz="2178"/>
            </a:lvl4pPr>
            <a:lvl5pPr>
              <a:defRPr sz="2178"/>
            </a:lvl5pPr>
            <a:lvl6pPr>
              <a:defRPr sz="2178"/>
            </a:lvl6pPr>
            <a:lvl7pPr>
              <a:defRPr sz="2178"/>
            </a:lvl7pPr>
            <a:lvl8pPr>
              <a:defRPr sz="2178"/>
            </a:lvl8pPr>
            <a:lvl9pPr>
              <a:defRPr sz="2178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7943987" y="2089817"/>
            <a:ext cx="6912299" cy="870937"/>
          </a:xfrm>
        </p:spPr>
        <p:txBody>
          <a:bodyPr anchor="b"/>
          <a:lstStyle>
            <a:lvl1pPr marL="0" indent="0">
              <a:buNone/>
              <a:defRPr sz="3267" b="1"/>
            </a:lvl1pPr>
            <a:lvl2pPr marL="622386" indent="0">
              <a:buNone/>
              <a:defRPr sz="2723" b="1"/>
            </a:lvl2pPr>
            <a:lvl3pPr marL="1244773" indent="0">
              <a:buNone/>
              <a:defRPr sz="2450" b="1"/>
            </a:lvl3pPr>
            <a:lvl4pPr marL="1867159" indent="0">
              <a:buNone/>
              <a:defRPr sz="2178" b="1"/>
            </a:lvl4pPr>
            <a:lvl5pPr marL="2489545" indent="0">
              <a:buNone/>
              <a:defRPr sz="2178" b="1"/>
            </a:lvl5pPr>
            <a:lvl6pPr marL="3111932" indent="0">
              <a:buNone/>
              <a:defRPr sz="2178" b="1"/>
            </a:lvl6pPr>
            <a:lvl7pPr marL="3734318" indent="0">
              <a:buNone/>
              <a:defRPr sz="2178" b="1"/>
            </a:lvl7pPr>
            <a:lvl8pPr marL="4356705" indent="0">
              <a:buNone/>
              <a:defRPr sz="2178" b="1"/>
            </a:lvl8pPr>
            <a:lvl9pPr marL="4979091" indent="0">
              <a:buNone/>
              <a:defRPr sz="2178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7943987" y="2960754"/>
            <a:ext cx="6912299" cy="5379064"/>
          </a:xfrm>
        </p:spPr>
        <p:txBody>
          <a:bodyPr/>
          <a:lstStyle>
            <a:lvl1pPr>
              <a:defRPr sz="3267"/>
            </a:lvl1pPr>
            <a:lvl2pPr>
              <a:defRPr sz="2723"/>
            </a:lvl2pPr>
            <a:lvl3pPr>
              <a:defRPr sz="2450"/>
            </a:lvl3pPr>
            <a:lvl4pPr>
              <a:defRPr sz="2178"/>
            </a:lvl4pPr>
            <a:lvl5pPr>
              <a:defRPr sz="2178"/>
            </a:lvl5pPr>
            <a:lvl6pPr>
              <a:defRPr sz="2178"/>
            </a:lvl6pPr>
            <a:lvl7pPr>
              <a:defRPr sz="2178"/>
            </a:lvl7pPr>
            <a:lvl8pPr>
              <a:defRPr sz="2178"/>
            </a:lvl8pPr>
            <a:lvl9pPr>
              <a:defRPr sz="2178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8/29/2026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52964439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8/29/2026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84594174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8/29/2026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5004692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81911" y="371715"/>
            <a:ext cx="5144858" cy="1581950"/>
          </a:xfrm>
        </p:spPr>
        <p:txBody>
          <a:bodyPr anchor="b"/>
          <a:lstStyle>
            <a:lvl1pPr algn="l">
              <a:defRPr sz="2723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14100" y="371716"/>
            <a:ext cx="8742185" cy="7968103"/>
          </a:xfrm>
        </p:spPr>
        <p:txBody>
          <a:bodyPr/>
          <a:lstStyle>
            <a:lvl1pPr>
              <a:defRPr sz="4356"/>
            </a:lvl1pPr>
            <a:lvl2pPr>
              <a:defRPr sz="3812"/>
            </a:lvl2pPr>
            <a:lvl3pPr>
              <a:defRPr sz="3267"/>
            </a:lvl3pPr>
            <a:lvl4pPr>
              <a:defRPr sz="2723"/>
            </a:lvl4pPr>
            <a:lvl5pPr>
              <a:defRPr sz="2723"/>
            </a:lvl5pPr>
            <a:lvl6pPr>
              <a:defRPr sz="2723"/>
            </a:lvl6pPr>
            <a:lvl7pPr>
              <a:defRPr sz="2723"/>
            </a:lvl7pPr>
            <a:lvl8pPr>
              <a:defRPr sz="2723"/>
            </a:lvl8pPr>
            <a:lvl9pPr>
              <a:defRPr sz="2723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81911" y="1953666"/>
            <a:ext cx="5144858" cy="6386153"/>
          </a:xfrm>
        </p:spPr>
        <p:txBody>
          <a:bodyPr/>
          <a:lstStyle>
            <a:lvl1pPr marL="0" indent="0">
              <a:buNone/>
              <a:defRPr sz="1906"/>
            </a:lvl1pPr>
            <a:lvl2pPr marL="622386" indent="0">
              <a:buNone/>
              <a:defRPr sz="1634"/>
            </a:lvl2pPr>
            <a:lvl3pPr marL="1244773" indent="0">
              <a:buNone/>
              <a:defRPr sz="1361"/>
            </a:lvl3pPr>
            <a:lvl4pPr marL="1867159" indent="0">
              <a:buNone/>
              <a:defRPr sz="1225"/>
            </a:lvl4pPr>
            <a:lvl5pPr marL="2489545" indent="0">
              <a:buNone/>
              <a:defRPr sz="1225"/>
            </a:lvl5pPr>
            <a:lvl6pPr marL="3111932" indent="0">
              <a:buNone/>
              <a:defRPr sz="1225"/>
            </a:lvl6pPr>
            <a:lvl7pPr marL="3734318" indent="0">
              <a:buNone/>
              <a:defRPr sz="1225"/>
            </a:lvl7pPr>
            <a:lvl8pPr marL="4356705" indent="0">
              <a:buNone/>
              <a:defRPr sz="1225"/>
            </a:lvl8pPr>
            <a:lvl9pPr marL="4979091" indent="0">
              <a:buNone/>
              <a:defRPr sz="122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8/29/2026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64090047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65196" y="6535270"/>
            <a:ext cx="9382917" cy="771526"/>
          </a:xfrm>
        </p:spPr>
        <p:txBody>
          <a:bodyPr anchor="b"/>
          <a:lstStyle>
            <a:lvl1pPr algn="l">
              <a:defRPr sz="2723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3065196" y="834198"/>
            <a:ext cx="9382917" cy="5601661"/>
          </a:xfrm>
        </p:spPr>
        <p:txBody>
          <a:bodyPr/>
          <a:lstStyle>
            <a:lvl1pPr marL="0" indent="0">
              <a:buNone/>
              <a:defRPr sz="4356"/>
            </a:lvl1pPr>
            <a:lvl2pPr marL="622386" indent="0">
              <a:buNone/>
              <a:defRPr sz="3812"/>
            </a:lvl2pPr>
            <a:lvl3pPr marL="1244773" indent="0">
              <a:buNone/>
              <a:defRPr sz="3267"/>
            </a:lvl3pPr>
            <a:lvl4pPr marL="1867159" indent="0">
              <a:buNone/>
              <a:defRPr sz="2723"/>
            </a:lvl4pPr>
            <a:lvl5pPr marL="2489545" indent="0">
              <a:buNone/>
              <a:defRPr sz="2723"/>
            </a:lvl5pPr>
            <a:lvl6pPr marL="3111932" indent="0">
              <a:buNone/>
              <a:defRPr sz="2723"/>
            </a:lvl6pPr>
            <a:lvl7pPr marL="3734318" indent="0">
              <a:buNone/>
              <a:defRPr sz="2723"/>
            </a:lvl7pPr>
            <a:lvl8pPr marL="4356705" indent="0">
              <a:buNone/>
              <a:defRPr sz="2723"/>
            </a:lvl8pPr>
            <a:lvl9pPr marL="4979091" indent="0">
              <a:buNone/>
              <a:defRPr sz="2723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065196" y="7306797"/>
            <a:ext cx="9382917" cy="1095694"/>
          </a:xfrm>
        </p:spPr>
        <p:txBody>
          <a:bodyPr/>
          <a:lstStyle>
            <a:lvl1pPr marL="0" indent="0">
              <a:buNone/>
              <a:defRPr sz="1906"/>
            </a:lvl1pPr>
            <a:lvl2pPr marL="622386" indent="0">
              <a:buNone/>
              <a:defRPr sz="1634"/>
            </a:lvl2pPr>
            <a:lvl3pPr marL="1244773" indent="0">
              <a:buNone/>
              <a:defRPr sz="1361"/>
            </a:lvl3pPr>
            <a:lvl4pPr marL="1867159" indent="0">
              <a:buNone/>
              <a:defRPr sz="1225"/>
            </a:lvl4pPr>
            <a:lvl5pPr marL="2489545" indent="0">
              <a:buNone/>
              <a:defRPr sz="1225"/>
            </a:lvl5pPr>
            <a:lvl6pPr marL="3111932" indent="0">
              <a:buNone/>
              <a:defRPr sz="1225"/>
            </a:lvl6pPr>
            <a:lvl7pPr marL="3734318" indent="0">
              <a:buNone/>
              <a:defRPr sz="1225"/>
            </a:lvl7pPr>
            <a:lvl8pPr marL="4356705" indent="0">
              <a:buNone/>
              <a:defRPr sz="1225"/>
            </a:lvl8pPr>
            <a:lvl9pPr marL="4979091" indent="0">
              <a:buNone/>
              <a:defRPr sz="122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8/29/2026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87115919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79198864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1337691" y="373877"/>
            <a:ext cx="3518594" cy="7965942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81910" y="373877"/>
            <a:ext cx="10295145" cy="7965942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37351375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slideLayout" Target="../slideLayouts/slideLayout13.xml"/><Relationship Id="rId3" Type="http://schemas.openxmlformats.org/officeDocument/2006/relationships/slideLayout" Target="../slideLayouts/slideLayout14.xml"/><Relationship Id="rId4" Type="http://schemas.openxmlformats.org/officeDocument/2006/relationships/slideLayout" Target="../slideLayouts/slideLayout15.xml"/><Relationship Id="rId5" Type="http://schemas.openxmlformats.org/officeDocument/2006/relationships/slideLayout" Target="../slideLayouts/slideLayout16.xml"/><Relationship Id="rId6" Type="http://schemas.openxmlformats.org/officeDocument/2006/relationships/slideLayout" Target="../slideLayouts/slideLayout17.xml"/><Relationship Id="rId7" Type="http://schemas.openxmlformats.org/officeDocument/2006/relationships/slideLayout" Target="../slideLayouts/slideLayout18.xml"/><Relationship Id="rId8" Type="http://schemas.openxmlformats.org/officeDocument/2006/relationships/slideLayout" Target="../slideLayouts/slideLayout19.xml"/><Relationship Id="rId9" Type="http://schemas.openxmlformats.org/officeDocument/2006/relationships/slideLayout" Target="../slideLayouts/slideLayout20.xml"/><Relationship Id="rId10" Type="http://schemas.openxmlformats.org/officeDocument/2006/relationships/slideLayout" Target="../slideLayouts/slideLayout21.xml"/><Relationship Id="rId11" Type="http://schemas.openxmlformats.org/officeDocument/2006/relationships/slideLayout" Target="../slideLayouts/slideLayout22.xml"/><Relationship Id="rId12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81910" y="373877"/>
            <a:ext cx="14074375" cy="155601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81910" y="2178424"/>
            <a:ext cx="14074375" cy="616139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81910" y="8653183"/>
            <a:ext cx="3648912" cy="49706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634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343050" y="8653183"/>
            <a:ext cx="4952095" cy="49706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634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1207373" y="8653183"/>
            <a:ext cx="3648912" cy="49706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634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539693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ctr" defTabSz="1244773" rtl="0" eaLnBrk="1" latinLnBrk="0" hangingPunct="1">
        <a:spcBef>
          <a:spcPct val="0"/>
        </a:spcBef>
        <a:buNone/>
        <a:defRPr sz="599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466790" indent="-466790" algn="l" defTabSz="1244773" rtl="0" eaLnBrk="1" latinLnBrk="0" hangingPunct="1">
        <a:spcBef>
          <a:spcPct val="20000"/>
        </a:spcBef>
        <a:buFont typeface="Arial" pitchFamily="34" charset="0"/>
        <a:buChar char="•"/>
        <a:defRPr sz="4356" kern="1200">
          <a:solidFill>
            <a:schemeClr val="tx1"/>
          </a:solidFill>
          <a:latin typeface="+mn-lt"/>
          <a:ea typeface="+mn-ea"/>
          <a:cs typeface="+mn-cs"/>
        </a:defRPr>
      </a:lvl1pPr>
      <a:lvl2pPr marL="1011378" indent="-388991" algn="l" defTabSz="1244773" rtl="0" eaLnBrk="1" latinLnBrk="0" hangingPunct="1">
        <a:spcBef>
          <a:spcPct val="20000"/>
        </a:spcBef>
        <a:buFont typeface="Arial" pitchFamily="34" charset="0"/>
        <a:buChar char="–"/>
        <a:defRPr sz="3812" kern="1200">
          <a:solidFill>
            <a:schemeClr val="tx1"/>
          </a:solidFill>
          <a:latin typeface="+mn-lt"/>
          <a:ea typeface="+mn-ea"/>
          <a:cs typeface="+mn-cs"/>
        </a:defRPr>
      </a:lvl2pPr>
      <a:lvl3pPr marL="1555966" indent="-311193" algn="l" defTabSz="1244773" rtl="0" eaLnBrk="1" latinLnBrk="0" hangingPunct="1">
        <a:spcBef>
          <a:spcPct val="20000"/>
        </a:spcBef>
        <a:buFont typeface="Arial" pitchFamily="34" charset="0"/>
        <a:buChar char="•"/>
        <a:defRPr sz="3267" kern="1200">
          <a:solidFill>
            <a:schemeClr val="tx1"/>
          </a:solidFill>
          <a:latin typeface="+mn-lt"/>
          <a:ea typeface="+mn-ea"/>
          <a:cs typeface="+mn-cs"/>
        </a:defRPr>
      </a:lvl3pPr>
      <a:lvl4pPr marL="2178352" indent="-311193" algn="l" defTabSz="1244773" rtl="0" eaLnBrk="1" latinLnBrk="0" hangingPunct="1">
        <a:spcBef>
          <a:spcPct val="20000"/>
        </a:spcBef>
        <a:buFont typeface="Arial" pitchFamily="34" charset="0"/>
        <a:buChar char="–"/>
        <a:defRPr sz="2723" kern="1200">
          <a:solidFill>
            <a:schemeClr val="tx1"/>
          </a:solidFill>
          <a:latin typeface="+mn-lt"/>
          <a:ea typeface="+mn-ea"/>
          <a:cs typeface="+mn-cs"/>
        </a:defRPr>
      </a:lvl4pPr>
      <a:lvl5pPr marL="2800739" indent="-311193" algn="l" defTabSz="1244773" rtl="0" eaLnBrk="1" latinLnBrk="0" hangingPunct="1">
        <a:spcBef>
          <a:spcPct val="20000"/>
        </a:spcBef>
        <a:buFont typeface="Arial" pitchFamily="34" charset="0"/>
        <a:buChar char="»"/>
        <a:defRPr sz="2723" kern="1200">
          <a:solidFill>
            <a:schemeClr val="tx1"/>
          </a:solidFill>
          <a:latin typeface="+mn-lt"/>
          <a:ea typeface="+mn-ea"/>
          <a:cs typeface="+mn-cs"/>
        </a:defRPr>
      </a:lvl5pPr>
      <a:lvl6pPr marL="3423125" indent="-311193" algn="l" defTabSz="1244773" rtl="0" eaLnBrk="1" latinLnBrk="0" hangingPunct="1">
        <a:spcBef>
          <a:spcPct val="20000"/>
        </a:spcBef>
        <a:buFont typeface="Arial" pitchFamily="34" charset="0"/>
        <a:buChar char="•"/>
        <a:defRPr sz="2723" kern="1200">
          <a:solidFill>
            <a:schemeClr val="tx1"/>
          </a:solidFill>
          <a:latin typeface="+mn-lt"/>
          <a:ea typeface="+mn-ea"/>
          <a:cs typeface="+mn-cs"/>
        </a:defRPr>
      </a:lvl6pPr>
      <a:lvl7pPr marL="4045511" indent="-311193" algn="l" defTabSz="1244773" rtl="0" eaLnBrk="1" latinLnBrk="0" hangingPunct="1">
        <a:spcBef>
          <a:spcPct val="20000"/>
        </a:spcBef>
        <a:buFont typeface="Arial" pitchFamily="34" charset="0"/>
        <a:buChar char="•"/>
        <a:defRPr sz="2723" kern="1200">
          <a:solidFill>
            <a:schemeClr val="tx1"/>
          </a:solidFill>
          <a:latin typeface="+mn-lt"/>
          <a:ea typeface="+mn-ea"/>
          <a:cs typeface="+mn-cs"/>
        </a:defRPr>
      </a:lvl7pPr>
      <a:lvl8pPr marL="4667898" indent="-311193" algn="l" defTabSz="1244773" rtl="0" eaLnBrk="1" latinLnBrk="0" hangingPunct="1">
        <a:spcBef>
          <a:spcPct val="20000"/>
        </a:spcBef>
        <a:buFont typeface="Arial" pitchFamily="34" charset="0"/>
        <a:buChar char="•"/>
        <a:defRPr sz="2723" kern="1200">
          <a:solidFill>
            <a:schemeClr val="tx1"/>
          </a:solidFill>
          <a:latin typeface="+mn-lt"/>
          <a:ea typeface="+mn-ea"/>
          <a:cs typeface="+mn-cs"/>
        </a:defRPr>
      </a:lvl8pPr>
      <a:lvl9pPr marL="5290284" indent="-311193" algn="l" defTabSz="1244773" rtl="0" eaLnBrk="1" latinLnBrk="0" hangingPunct="1">
        <a:spcBef>
          <a:spcPct val="20000"/>
        </a:spcBef>
        <a:buFont typeface="Arial" pitchFamily="34" charset="0"/>
        <a:buChar char="•"/>
        <a:defRPr sz="2723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244773" rtl="0" eaLnBrk="1" latinLnBrk="0" hangingPunct="1">
        <a:defRPr sz="2450" kern="1200">
          <a:solidFill>
            <a:schemeClr val="tx1"/>
          </a:solidFill>
          <a:latin typeface="+mn-lt"/>
          <a:ea typeface="+mn-ea"/>
          <a:cs typeface="+mn-cs"/>
        </a:defRPr>
      </a:lvl1pPr>
      <a:lvl2pPr marL="622386" algn="l" defTabSz="1244773" rtl="0" eaLnBrk="1" latinLnBrk="0" hangingPunct="1">
        <a:defRPr sz="2450" kern="1200">
          <a:solidFill>
            <a:schemeClr val="tx1"/>
          </a:solidFill>
          <a:latin typeface="+mn-lt"/>
          <a:ea typeface="+mn-ea"/>
          <a:cs typeface="+mn-cs"/>
        </a:defRPr>
      </a:lvl2pPr>
      <a:lvl3pPr marL="1244773" algn="l" defTabSz="1244773" rtl="0" eaLnBrk="1" latinLnBrk="0" hangingPunct="1">
        <a:defRPr sz="2450" kern="1200">
          <a:solidFill>
            <a:schemeClr val="tx1"/>
          </a:solidFill>
          <a:latin typeface="+mn-lt"/>
          <a:ea typeface="+mn-ea"/>
          <a:cs typeface="+mn-cs"/>
        </a:defRPr>
      </a:lvl3pPr>
      <a:lvl4pPr marL="1867159" algn="l" defTabSz="1244773" rtl="0" eaLnBrk="1" latinLnBrk="0" hangingPunct="1">
        <a:defRPr sz="2450" kern="1200">
          <a:solidFill>
            <a:schemeClr val="tx1"/>
          </a:solidFill>
          <a:latin typeface="+mn-lt"/>
          <a:ea typeface="+mn-ea"/>
          <a:cs typeface="+mn-cs"/>
        </a:defRPr>
      </a:lvl4pPr>
      <a:lvl5pPr marL="2489545" algn="l" defTabSz="1244773" rtl="0" eaLnBrk="1" latinLnBrk="0" hangingPunct="1">
        <a:defRPr sz="2450" kern="1200">
          <a:solidFill>
            <a:schemeClr val="tx1"/>
          </a:solidFill>
          <a:latin typeface="+mn-lt"/>
          <a:ea typeface="+mn-ea"/>
          <a:cs typeface="+mn-cs"/>
        </a:defRPr>
      </a:lvl5pPr>
      <a:lvl6pPr marL="3111932" algn="l" defTabSz="1244773" rtl="0" eaLnBrk="1" latinLnBrk="0" hangingPunct="1">
        <a:defRPr sz="2450" kern="1200">
          <a:solidFill>
            <a:schemeClr val="tx1"/>
          </a:solidFill>
          <a:latin typeface="+mn-lt"/>
          <a:ea typeface="+mn-ea"/>
          <a:cs typeface="+mn-cs"/>
        </a:defRPr>
      </a:lvl6pPr>
      <a:lvl7pPr marL="3734318" algn="l" defTabSz="1244773" rtl="0" eaLnBrk="1" latinLnBrk="0" hangingPunct="1">
        <a:defRPr sz="2450" kern="1200">
          <a:solidFill>
            <a:schemeClr val="tx1"/>
          </a:solidFill>
          <a:latin typeface="+mn-lt"/>
          <a:ea typeface="+mn-ea"/>
          <a:cs typeface="+mn-cs"/>
        </a:defRPr>
      </a:lvl7pPr>
      <a:lvl8pPr marL="4356705" algn="l" defTabSz="1244773" rtl="0" eaLnBrk="1" latinLnBrk="0" hangingPunct="1">
        <a:defRPr sz="2450" kern="1200">
          <a:solidFill>
            <a:schemeClr val="tx1"/>
          </a:solidFill>
          <a:latin typeface="+mn-lt"/>
          <a:ea typeface="+mn-ea"/>
          <a:cs typeface="+mn-cs"/>
        </a:defRPr>
      </a:lvl8pPr>
      <a:lvl9pPr marL="4979091" algn="l" defTabSz="1244773" rtl="0" eaLnBrk="1" latinLnBrk="0" hangingPunct="1">
        <a:defRPr sz="24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5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6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7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8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9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10.png"/><Relationship Id="rId5" Type="http://schemas.openxmlformats.org/officeDocument/2006/relationships/notesSlide" Target="../notesSlides/notesSlide1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1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image" Target="../media/image13.png"/><Relationship Id="rId4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37435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2663756"/>
            <a:ext cx="10464817" cy="6594544"/>
          </a:xfrm>
          <a:custGeom>
            <a:avLst/>
            <a:gdLst/>
            <a:ahLst/>
            <a:cxnLst/>
            <a:rect l="l" t="t" r="r" b="b"/>
            <a:pathLst>
              <a:path w="10464817" h="6594544">
                <a:moveTo>
                  <a:pt x="0" y="0"/>
                </a:moveTo>
                <a:lnTo>
                  <a:pt x="10464817" y="0"/>
                </a:lnTo>
                <a:lnTo>
                  <a:pt x="10464817" y="6594544"/>
                </a:lnTo>
                <a:lnTo>
                  <a:pt x="0" y="6594544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grpSp>
        <p:nvGrpSpPr>
          <p:cNvPr id="3" name="Group 3"/>
          <p:cNvGrpSpPr/>
          <p:nvPr/>
        </p:nvGrpSpPr>
        <p:grpSpPr>
          <a:xfrm>
            <a:off x="0" y="0"/>
            <a:ext cx="4348518" cy="2540190"/>
            <a:chOff x="0" y="0"/>
            <a:chExt cx="1145289" cy="669021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1145289" cy="669021"/>
            </a:xfrm>
            <a:custGeom>
              <a:avLst/>
              <a:gdLst/>
              <a:ahLst/>
              <a:cxnLst/>
              <a:rect l="l" t="t" r="r" b="b"/>
              <a:pathLst>
                <a:path w="1145289" h="669021">
                  <a:moveTo>
                    <a:pt x="0" y="0"/>
                  </a:moveTo>
                  <a:lnTo>
                    <a:pt x="1145289" y="0"/>
                  </a:lnTo>
                  <a:lnTo>
                    <a:pt x="1145289" y="669021"/>
                  </a:lnTo>
                  <a:lnTo>
                    <a:pt x="0" y="669021"/>
                  </a:lnTo>
                  <a:close/>
                </a:path>
              </a:pathLst>
            </a:custGeom>
            <a:solidFill>
              <a:srgbClr val="DDF1F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0" y="-38100"/>
              <a:ext cx="1145289" cy="70712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-1911824" y="6718110"/>
            <a:ext cx="4348518" cy="2540190"/>
            <a:chOff x="0" y="0"/>
            <a:chExt cx="1145289" cy="669021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1145289" cy="669021"/>
            </a:xfrm>
            <a:custGeom>
              <a:avLst/>
              <a:gdLst/>
              <a:ahLst/>
              <a:cxnLst/>
              <a:rect l="l" t="t" r="r" b="b"/>
              <a:pathLst>
                <a:path w="1145289" h="669021">
                  <a:moveTo>
                    <a:pt x="0" y="0"/>
                  </a:moveTo>
                  <a:lnTo>
                    <a:pt x="1145289" y="0"/>
                  </a:lnTo>
                  <a:lnTo>
                    <a:pt x="1145289" y="669021"/>
                  </a:lnTo>
                  <a:lnTo>
                    <a:pt x="0" y="669021"/>
                  </a:lnTo>
                  <a:close/>
                </a:path>
              </a:pathLst>
            </a:custGeom>
            <a:solidFill>
              <a:srgbClr val="729EBB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0" y="-38100"/>
              <a:ext cx="1145289" cy="70712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9" name="Group 9"/>
          <p:cNvGrpSpPr/>
          <p:nvPr/>
        </p:nvGrpSpPr>
        <p:grpSpPr>
          <a:xfrm>
            <a:off x="-1911824" y="9548884"/>
            <a:ext cx="4348518" cy="2540190"/>
            <a:chOff x="0" y="0"/>
            <a:chExt cx="1145289" cy="669021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1145289" cy="669021"/>
            </a:xfrm>
            <a:custGeom>
              <a:avLst/>
              <a:gdLst/>
              <a:ahLst/>
              <a:cxnLst/>
              <a:rect l="l" t="t" r="r" b="b"/>
              <a:pathLst>
                <a:path w="1145289" h="669021">
                  <a:moveTo>
                    <a:pt x="0" y="0"/>
                  </a:moveTo>
                  <a:lnTo>
                    <a:pt x="1145289" y="0"/>
                  </a:lnTo>
                  <a:lnTo>
                    <a:pt x="1145289" y="669021"/>
                  </a:lnTo>
                  <a:lnTo>
                    <a:pt x="0" y="669021"/>
                  </a:lnTo>
                  <a:close/>
                </a:path>
              </a:pathLst>
            </a:custGeom>
            <a:solidFill>
              <a:srgbClr val="DDF1F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0" y="-38100"/>
              <a:ext cx="1145289" cy="70712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12" name="Group 12"/>
          <p:cNvGrpSpPr/>
          <p:nvPr/>
        </p:nvGrpSpPr>
        <p:grpSpPr>
          <a:xfrm>
            <a:off x="-1916511" y="4017271"/>
            <a:ext cx="4348518" cy="1175760"/>
            <a:chOff x="0" y="0"/>
            <a:chExt cx="1145289" cy="309665"/>
          </a:xfrm>
        </p:grpSpPr>
        <p:sp>
          <p:nvSpPr>
            <p:cNvPr id="13" name="Freeform 13"/>
            <p:cNvSpPr/>
            <p:nvPr/>
          </p:nvSpPr>
          <p:spPr>
            <a:xfrm>
              <a:off x="0" y="0"/>
              <a:ext cx="1145289" cy="309665"/>
            </a:xfrm>
            <a:custGeom>
              <a:avLst/>
              <a:gdLst/>
              <a:ahLst/>
              <a:cxnLst/>
              <a:rect l="l" t="t" r="r" b="b"/>
              <a:pathLst>
                <a:path w="1145289" h="309665">
                  <a:moveTo>
                    <a:pt x="0" y="0"/>
                  </a:moveTo>
                  <a:lnTo>
                    <a:pt x="1145289" y="0"/>
                  </a:lnTo>
                  <a:lnTo>
                    <a:pt x="1145289" y="309665"/>
                  </a:lnTo>
                  <a:lnTo>
                    <a:pt x="0" y="309665"/>
                  </a:lnTo>
                  <a:close/>
                </a:path>
              </a:pathLst>
            </a:custGeom>
            <a:solidFill>
              <a:srgbClr val="DDF1F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0" y="-38100"/>
              <a:ext cx="1145289" cy="34776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15" name="Group 15"/>
          <p:cNvGrpSpPr/>
          <p:nvPr/>
        </p:nvGrpSpPr>
        <p:grpSpPr>
          <a:xfrm>
            <a:off x="-1911824" y="2663756"/>
            <a:ext cx="4348518" cy="1180073"/>
            <a:chOff x="0" y="0"/>
            <a:chExt cx="1145289" cy="310801"/>
          </a:xfrm>
        </p:grpSpPr>
        <p:sp>
          <p:nvSpPr>
            <p:cNvPr id="16" name="Freeform 16"/>
            <p:cNvSpPr/>
            <p:nvPr/>
          </p:nvSpPr>
          <p:spPr>
            <a:xfrm>
              <a:off x="0" y="0"/>
              <a:ext cx="1145289" cy="310801"/>
            </a:xfrm>
            <a:custGeom>
              <a:avLst/>
              <a:gdLst/>
              <a:ahLst/>
              <a:cxnLst/>
              <a:rect l="l" t="t" r="r" b="b"/>
              <a:pathLst>
                <a:path w="1145289" h="310801">
                  <a:moveTo>
                    <a:pt x="0" y="0"/>
                  </a:moveTo>
                  <a:lnTo>
                    <a:pt x="1145289" y="0"/>
                  </a:lnTo>
                  <a:lnTo>
                    <a:pt x="1145289" y="310801"/>
                  </a:lnTo>
                  <a:lnTo>
                    <a:pt x="0" y="310801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0" y="-38100"/>
              <a:ext cx="1145289" cy="34890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pic>
        <p:nvPicPr>
          <p:cNvPr id="20" name="Imagem 19" descr="Logotipo&#10;&#10;Descrição gerada automaticamente">
            <a:extLst>
              <a:ext uri="{FF2B5EF4-FFF2-40B4-BE49-F238E27FC236}">
                <a16:creationId xmlns:a16="http://schemas.microsoft.com/office/drawing/2014/main" id="{8A562693-C811-03C7-1589-2D448D8EFA91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544800" y="9001067"/>
            <a:ext cx="2098590" cy="1180457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10600000" y="2800000"/>
            <a:ext cx="7000000" cy="2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800" b="1">
                <a:solidFill>
                  <a:srgbClr val="DDF1FF"/>
                </a:solidFill>
                <a:latin typeface="Calibri"/>
              </a:rPr>
              <a:t>Aula 1</a:t>
            </a:r>
          </a:p>
          <a:p>
            <a:pPr algn="l">
              <a:spcAft>
                <a:spcPts val="800"/>
              </a:spcAft>
            </a:pPr>
            <a:r>
              <a:rPr sz="3700" b="1">
                <a:solidFill>
                  <a:srgbClr val="FFFFFF"/>
                </a:solidFill>
                <a:latin typeface="Calibri"/>
              </a:rPr>
              <a:t>Introdução ao Power BI Desktop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DDF1FF"/>
                </a:solidFill>
                <a:latin typeface="Calibri"/>
              </a:rPr>
              <a:t>Curso: Assistente em Análise de Dados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DDF1FF"/>
                </a:solidFill>
                <a:latin typeface="Calibri"/>
              </a:rPr>
              <a:t>Turma 103788  ·  01/09/2026  ·  13h-17h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300" b="1">
                <a:solidFill>
                  <a:srgbClr val="1F497D"/>
                </a:solidFill>
                <a:latin typeface="Calibri"/>
              </a:rPr>
              <a:t>Agenda da aula (4h)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13:00 – 13:20  Abertura e apresentação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13:20 – 13:50  O que é Business Intelligence?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13:50 – 14:20  Ecossistema Power BI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14:20 – 15:05  Tour pela interface do Power BI Desktop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15:05 – 15:20  Intervalo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15:20 – 16:00  Primeira conexão com dados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16:00 – 16:45  Atividade prática guiada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16:45 – 17:00  Fechamento e próximos passos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3600000"/>
            <a:ext cx="16400000" cy="2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700" b="1">
                <a:solidFill>
                  <a:srgbClr val="1F497D"/>
                </a:solidFill>
                <a:latin typeface="Calibri"/>
              </a:rPr>
              <a:t>Como vocês tomam decisões no trabalho hoje?
Com base em quê?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5900000"/>
            <a:ext cx="16400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Vamos discutir antes de começar…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300" b="1">
                <a:solidFill>
                  <a:srgbClr val="1F497D"/>
                </a:solidFill>
                <a:latin typeface="Calibri"/>
              </a:rPr>
              <a:t>O que é Business Intelligence (BI)?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Conjunto de processos, ferramentas e tecnologias para transformar dados brutos em informação útil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O caminho do BI:  Dado → Informação → Conhecimento → Decisão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Exemplo: uma lista de vendas (dado) vira "total vendido por região" (informação)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Quando percebemos um padrão (queda recorrente numa região), temos conhecimento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Esse conhecimento sustenta uma decisão concreta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300" b="1">
                <a:solidFill>
                  <a:srgbClr val="1F497D"/>
                </a:solidFill>
                <a:latin typeface="Calibri"/>
              </a:rPr>
              <a:t>Do dado à decisão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Dado → Informação → Conhecimento → Decisão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Uma lista com 10 mil linhas de vendas é um dado bruto — difícil de interpretar sozinho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Somar essas vendas por região e por mês já vira informação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Perceber que uma região está em queda recorrente nos últimos 3 meses é conhecimento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Esse conhecimento permite uma decisão: reforçar a equipe, investigar a causa etc.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300" b="1">
                <a:solidFill>
                  <a:srgbClr val="1F497D"/>
                </a:solidFill>
                <a:latin typeface="Calibri"/>
              </a:rPr>
              <a:t>BI no dia a dia da indústria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Produção: acompanhamento de metas e paradas de linha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Qualidade: indicadores de retrabalho e refugo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Manutenção: histórico de falhas e manutenção preventiva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Logística: prazos de entrega e giro de estoque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Comercial: vendas por região, produto, vendedor e canal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3700000"/>
            <a:ext cx="1640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600" b="1">
                <a:solidFill>
                  <a:srgbClr val="1F497D"/>
                </a:solidFill>
                <a:latin typeface="Calibri"/>
              </a:rPr>
              <a:t>CONCEITO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4450000"/>
            <a:ext cx="1640000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4100" b="1">
                <a:solidFill>
                  <a:srgbClr val="333333"/>
                </a:solidFill>
                <a:latin typeface="Calibri"/>
              </a:rPr>
              <a:t>Onde o Power BI se encaixa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0000" y="6050000"/>
            <a:ext cx="16400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500" b="0">
                <a:solidFill>
                  <a:srgbClr val="1F497D"/>
                </a:solidFill>
                <a:latin typeface="Calibri"/>
              </a:rPr>
              <a:t>Ferramenta de self-service BI da Microsoft — acessível para quem não é programador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300" b="1">
                <a:solidFill>
                  <a:srgbClr val="1F497D"/>
                </a:solidFill>
                <a:latin typeface="Calibri"/>
              </a:rPr>
              <a:t>Ecossistema Microsoft Power BI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780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500" b="1">
                <a:solidFill>
                  <a:srgbClr val="1F497D"/>
                </a:solidFill>
                <a:latin typeface="Calibri"/>
              </a:rPr>
              <a:t>Componentes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0000" y="3550000"/>
            <a:ext cx="7800000" cy="5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200" b="0">
                <a:solidFill>
                  <a:srgbClr val="333333"/>
                </a:solidFill>
                <a:latin typeface="Calibri"/>
              </a:rPr>
              <a:t>•  Power BI Desktop — autoria, no computador</a:t>
            </a:r>
          </a:p>
          <a:p>
            <a:pPr algn="l">
              <a:spcAft>
                <a:spcPts val="800"/>
              </a:spcAft>
            </a:pPr>
            <a:r>
              <a:rPr sz="2200" b="0">
                <a:solidFill>
                  <a:srgbClr val="333333"/>
                </a:solidFill>
                <a:latin typeface="Calibri"/>
              </a:rPr>
              <a:t>•  Power BI Service — nuvem, publicação e colaboração</a:t>
            </a:r>
          </a:p>
          <a:p>
            <a:pPr algn="l">
              <a:spcAft>
                <a:spcPts val="800"/>
              </a:spcAft>
            </a:pPr>
            <a:r>
              <a:rPr sz="2200" b="0">
                <a:solidFill>
                  <a:srgbClr val="333333"/>
                </a:solidFill>
                <a:latin typeface="Calibri"/>
              </a:rPr>
              <a:t>•  Power BI Mobile — consumo em celular/tablet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500000" y="3000000"/>
            <a:ext cx="780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500" b="1">
                <a:solidFill>
                  <a:srgbClr val="1F497D"/>
                </a:solidFill>
                <a:latin typeface="Calibri"/>
              </a:rPr>
              <a:t>Nesta disciplina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500000" y="3550000"/>
            <a:ext cx="7800000" cy="5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200" b="0">
                <a:solidFill>
                  <a:srgbClr val="333333"/>
                </a:solidFill>
                <a:latin typeface="Calibri"/>
              </a:rPr>
              <a:t>•  Vamos trabalhar principalmente no Power BI Desktop</a:t>
            </a:r>
          </a:p>
          <a:p>
            <a:pPr algn="l">
              <a:spcAft>
                <a:spcPts val="800"/>
              </a:spcAft>
            </a:pPr>
            <a:r>
              <a:rPr sz="2200" b="0">
                <a:solidFill>
                  <a:srgbClr val="333333"/>
                </a:solidFill>
                <a:latin typeface="Calibri"/>
              </a:rPr>
              <a:t>•  É onde você conecta, transforma, modela e visualiza dados</a:t>
            </a:r>
          </a:p>
          <a:p>
            <a:pPr algn="l">
              <a:spcAft>
                <a:spcPts val="800"/>
              </a:spcAft>
            </a:pPr>
            <a:r>
              <a:rPr sz="2200" b="0">
                <a:solidFill>
                  <a:srgbClr val="333333"/>
                </a:solidFill>
                <a:latin typeface="Calibri"/>
              </a:rPr>
              <a:t>•  Publicação no Service fica para etapas futuras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300" b="1">
                <a:solidFill>
                  <a:srgbClr val="1F497D"/>
                </a:solidFill>
                <a:latin typeface="Calibri"/>
              </a:rPr>
              <a:t>Fluxo típico de trabalho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1) Construir o relatório no Power BI Desktop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2) Publicar no Power BI Service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3) Compartilhar e consumir no navegador ou no Power BI Mobile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Licenciamento: existe versão Free e versão Pro (não é o foco desta aula)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300" b="1">
                <a:solidFill>
                  <a:srgbClr val="1F497D"/>
                </a:solidFill>
                <a:latin typeface="Calibri"/>
              </a:rPr>
              <a:t>Interface do Power BI Desktop – Faixa de Opções</a:t>
            </a:r>
          </a:p>
        </p:txBody>
      </p:sp>
      <p:pic>
        <p:nvPicPr>
          <p:cNvPr id="13" name="Faixa de Opcoes Power BI" descr="Faixa de opcoes do Power BI Desktop com as guias Pagina Inicial, Inserir, Modelagem e Exibicao numeradas e destacadas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0000" y="3050000"/>
            <a:ext cx="16400000" cy="2434375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00000" y="5634375"/>
            <a:ext cx="16400000" cy="36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300" b="1">
                <a:solidFill>
                  <a:srgbClr val="2E86DE"/>
                </a:solidFill>
                <a:latin typeface="Calibri"/>
              </a:rPr>
              <a:t>•  </a:t>
            </a:r>
            <a:r>
              <a:rPr sz="2300" b="0">
                <a:solidFill>
                  <a:srgbClr val="333333"/>
                </a:solidFill>
                <a:latin typeface="Calibri"/>
              </a:rPr>
              <a:t>Guia Página Inicial: obter dados, colar, atualizar, novos elementos visuais</a:t>
            </a:r>
          </a:p>
          <a:p>
            <a:pPr algn="l">
              <a:spcAft>
                <a:spcPts val="800"/>
              </a:spcAft>
            </a:pPr>
            <a:r>
              <a:rPr sz="2300" b="1">
                <a:solidFill>
                  <a:srgbClr val="10AC84"/>
                </a:solidFill>
                <a:latin typeface="Calibri"/>
              </a:rPr>
              <a:t>•  </a:t>
            </a:r>
            <a:r>
              <a:rPr sz="2300" b="0">
                <a:solidFill>
                  <a:srgbClr val="333333"/>
                </a:solidFill>
                <a:latin typeface="Calibri"/>
              </a:rPr>
              <a:t>Guia Inserir: novos visuais, botões, formas, textos</a:t>
            </a:r>
          </a:p>
          <a:p>
            <a:pPr algn="l">
              <a:spcAft>
                <a:spcPts val="800"/>
              </a:spcAft>
            </a:pPr>
            <a:r>
              <a:rPr sz="2300" b="1">
                <a:solidFill>
                  <a:srgbClr val="EE5A24"/>
                </a:solidFill>
                <a:latin typeface="Calibri"/>
              </a:rPr>
              <a:t>•  </a:t>
            </a:r>
            <a:r>
              <a:rPr sz="2300" b="0">
                <a:solidFill>
                  <a:srgbClr val="333333"/>
                </a:solidFill>
                <a:latin typeface="Calibri"/>
              </a:rPr>
              <a:t>Guia Modelagem: novas medidas, colunas calculadas, relacionamentos</a:t>
            </a:r>
          </a:p>
          <a:p>
            <a:pPr algn="l">
              <a:spcAft>
                <a:spcPts val="800"/>
              </a:spcAft>
            </a:pPr>
            <a:r>
              <a:rPr sz="2300" b="1">
                <a:solidFill>
                  <a:srgbClr val="8854D0"/>
                </a:solidFill>
                <a:latin typeface="Calibri"/>
              </a:rPr>
              <a:t>•  </a:t>
            </a:r>
            <a:r>
              <a:rPr sz="2300" b="0">
                <a:solidFill>
                  <a:srgbClr val="333333"/>
                </a:solidFill>
                <a:latin typeface="Calibri"/>
              </a:rPr>
              <a:t>Guia Exibir: temas, layout de página, painéis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300" b="1">
                <a:solidFill>
                  <a:srgbClr val="1F497D"/>
                </a:solidFill>
                <a:latin typeface="Calibri"/>
              </a:rPr>
              <a:t>As três visões – Relatório</a:t>
            </a:r>
          </a:p>
        </p:txBody>
      </p:sp>
      <p:pic>
        <p:nvPicPr>
          <p:cNvPr id="13" name="Captura Power BI Desktop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00000" y="3269877"/>
            <a:ext cx="7900000" cy="5860246"/>
          </a:xfrm>
          <a:prstGeom prst="rect">
            <a:avLst/>
          </a:prstGeom>
          <a:ln w="9525">
            <a:solidFill>
              <a:srgbClr val="CCCCCC"/>
            </a:solidFill>
          </a:ln>
        </p:spPr>
      </p:pic>
      <p:sp>
        <p:nvSpPr>
          <p:cNvPr id="12" name="TextBox 11"/>
          <p:cNvSpPr txBox="1"/>
          <p:nvPr/>
        </p:nvSpPr>
        <p:spPr>
          <a:xfrm>
            <a:off x="900000" y="3050000"/>
            <a:ext cx="8200000" cy="6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Tela principal de trabalho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Onde os gráficos, tabelas e cartões são montados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Cada página do relatório é uma aba na parte inferior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É o que o usuário final vê ao abrir o dashboard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300" b="1">
                <a:solidFill>
                  <a:srgbClr val="1F497D"/>
                </a:solidFill>
                <a:latin typeface="Calibri"/>
              </a:rPr>
              <a:t>As três visões – Dados</a:t>
            </a:r>
          </a:p>
        </p:txBody>
      </p:sp>
      <p:pic>
        <p:nvPicPr>
          <p:cNvPr id="13" name="Captura Power BI Desktop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00000" y="3576071"/>
            <a:ext cx="7900000" cy="5247857"/>
          </a:xfrm>
          <a:prstGeom prst="rect">
            <a:avLst/>
          </a:prstGeom>
          <a:ln w="9525">
            <a:solidFill>
              <a:srgbClr val="CCCCCC"/>
            </a:solidFill>
          </a:ln>
        </p:spPr>
      </p:pic>
      <p:sp>
        <p:nvSpPr>
          <p:cNvPr id="12" name="TextBox 11"/>
          <p:cNvSpPr txBox="1"/>
          <p:nvPr/>
        </p:nvSpPr>
        <p:spPr>
          <a:xfrm>
            <a:off x="900000" y="3050000"/>
            <a:ext cx="8200000" cy="6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Mostra as tabelas carregadas linha por linha, como uma planilha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Serve para conferir os dados importados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É onde se criam colunas calculadas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Ajuda a identificar o tipo de cada coluna (texto, número, data)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300" b="1">
                <a:solidFill>
                  <a:srgbClr val="1F497D"/>
                </a:solidFill>
                <a:latin typeface="Calibri"/>
              </a:rPr>
              <a:t>As três visões – Modelo</a:t>
            </a:r>
          </a:p>
        </p:txBody>
      </p:sp>
      <p:pic>
        <p:nvPicPr>
          <p:cNvPr id="13" name="Captura Power BI Desktop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00000" y="3576071"/>
            <a:ext cx="7900000" cy="5247857"/>
          </a:xfrm>
          <a:prstGeom prst="rect">
            <a:avLst/>
          </a:prstGeom>
          <a:ln w="9525">
            <a:solidFill>
              <a:srgbClr val="CCCCCC"/>
            </a:solidFill>
          </a:ln>
        </p:spPr>
      </p:pic>
      <p:sp>
        <p:nvSpPr>
          <p:cNvPr id="12" name="TextBox 11"/>
          <p:cNvSpPr txBox="1"/>
          <p:nvPr/>
        </p:nvSpPr>
        <p:spPr>
          <a:xfrm>
            <a:off x="900000" y="3050000"/>
            <a:ext cx="8200000" cy="6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Mostra as tabelas em formato de caixas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Mostra os relacionamentos (linhas) entre tabelas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Com uma tabela só, ainda não há relacionamentos para ver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Ganha importância a partir da Aula 3, com múltiplas tabelas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300" b="1">
                <a:solidFill>
                  <a:srgbClr val="1F497D"/>
                </a:solidFill>
                <a:latin typeface="Calibri"/>
              </a:rPr>
              <a:t>Painéis do lado direito</a:t>
            </a:r>
          </a:p>
        </p:txBody>
      </p:sp>
      <p:pic>
        <p:nvPicPr>
          <p:cNvPr id="13" name="Captura Power BI Desktop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00000" y="3511805"/>
            <a:ext cx="7900000" cy="5376389"/>
          </a:xfrm>
          <a:prstGeom prst="rect">
            <a:avLst/>
          </a:prstGeom>
          <a:ln w="9525">
            <a:solidFill>
              <a:srgbClr val="CCCCCC"/>
            </a:solidFill>
          </a:ln>
        </p:spPr>
      </p:pic>
      <p:sp>
        <p:nvSpPr>
          <p:cNvPr id="12" name="TextBox 11"/>
          <p:cNvSpPr txBox="1"/>
          <p:nvPr/>
        </p:nvSpPr>
        <p:spPr>
          <a:xfrm>
            <a:off x="900000" y="3050000"/>
            <a:ext cx="8500000" cy="2626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300" b="1" dirty="0">
                <a:solidFill>
                  <a:srgbClr val="2E86DE"/>
                </a:solidFill>
                <a:latin typeface="Calibri"/>
              </a:rPr>
              <a:t>•  </a:t>
            </a:r>
            <a:r>
              <a:rPr sz="2300" b="0" dirty="0" err="1">
                <a:solidFill>
                  <a:srgbClr val="333333"/>
                </a:solidFill>
                <a:latin typeface="Calibri"/>
              </a:rPr>
              <a:t>Painel</a:t>
            </a:r>
            <a:r>
              <a:rPr sz="2300" b="0" dirty="0">
                <a:solidFill>
                  <a:srgbClr val="333333"/>
                </a:solidFill>
                <a:latin typeface="Calibri"/>
              </a:rPr>
              <a:t> </a:t>
            </a:r>
            <a:r>
              <a:rPr sz="2300" b="0" dirty="0" err="1">
                <a:solidFill>
                  <a:srgbClr val="333333"/>
                </a:solidFill>
                <a:latin typeface="Calibri"/>
              </a:rPr>
              <a:t>Filtros</a:t>
            </a:r>
            <a:r>
              <a:rPr sz="2300" b="0" dirty="0">
                <a:solidFill>
                  <a:srgbClr val="333333"/>
                </a:solidFill>
                <a:latin typeface="Calibri"/>
              </a:rPr>
              <a:t> — </a:t>
            </a:r>
            <a:r>
              <a:rPr sz="2300" b="0" dirty="0" err="1">
                <a:solidFill>
                  <a:srgbClr val="333333"/>
                </a:solidFill>
                <a:latin typeface="Calibri"/>
              </a:rPr>
              <a:t>filtros</a:t>
            </a:r>
            <a:r>
              <a:rPr sz="2300" b="0" dirty="0">
                <a:solidFill>
                  <a:srgbClr val="333333"/>
                </a:solidFill>
                <a:latin typeface="Calibri"/>
              </a:rPr>
              <a:t> de </a:t>
            </a:r>
            <a:r>
              <a:rPr sz="2300" b="0" dirty="0" err="1">
                <a:solidFill>
                  <a:srgbClr val="333333"/>
                </a:solidFill>
                <a:latin typeface="Calibri"/>
              </a:rPr>
              <a:t>página</a:t>
            </a:r>
            <a:r>
              <a:rPr sz="2300" b="0" dirty="0">
                <a:solidFill>
                  <a:srgbClr val="333333"/>
                </a:solidFill>
                <a:latin typeface="Calibri"/>
              </a:rPr>
              <a:t>, de visual </a:t>
            </a:r>
            <a:r>
              <a:rPr sz="2300" b="0" dirty="0" err="1">
                <a:solidFill>
                  <a:srgbClr val="333333"/>
                </a:solidFill>
                <a:latin typeface="Calibri"/>
              </a:rPr>
              <a:t>ou</a:t>
            </a:r>
            <a:r>
              <a:rPr sz="2300" b="0" dirty="0">
                <a:solidFill>
                  <a:srgbClr val="333333"/>
                </a:solidFill>
                <a:latin typeface="Calibri"/>
              </a:rPr>
              <a:t> do </a:t>
            </a:r>
            <a:r>
              <a:rPr sz="2300" b="0" dirty="0" err="1">
                <a:solidFill>
                  <a:srgbClr val="333333"/>
                </a:solidFill>
                <a:latin typeface="Calibri"/>
              </a:rPr>
              <a:t>relatório</a:t>
            </a:r>
            <a:r>
              <a:rPr sz="2300" b="0" dirty="0">
                <a:solidFill>
                  <a:srgbClr val="333333"/>
                </a:solidFill>
                <a:latin typeface="Calibri"/>
              </a:rPr>
              <a:t> </a:t>
            </a:r>
            <a:r>
              <a:rPr sz="2300" b="0" dirty="0" err="1">
                <a:solidFill>
                  <a:srgbClr val="333333"/>
                </a:solidFill>
                <a:latin typeface="Calibri"/>
              </a:rPr>
              <a:t>inteiro</a:t>
            </a:r>
            <a:endParaRPr lang="pt-BR" sz="2300" b="0" dirty="0">
              <a:solidFill>
                <a:srgbClr val="333333"/>
              </a:solidFill>
              <a:latin typeface="Calibri"/>
            </a:endParaRPr>
          </a:p>
          <a:p>
            <a:pPr algn="l">
              <a:spcAft>
                <a:spcPts val="800"/>
              </a:spcAft>
            </a:pPr>
            <a:endParaRPr sz="2300" b="0" dirty="0">
              <a:solidFill>
                <a:srgbClr val="333333"/>
              </a:solidFill>
              <a:latin typeface="Calibri"/>
            </a:endParaRPr>
          </a:p>
          <a:p>
            <a:pPr>
              <a:spcAft>
                <a:spcPts val="800"/>
              </a:spcAft>
            </a:pPr>
            <a:r>
              <a:rPr sz="2300" b="1" dirty="0">
                <a:solidFill>
                  <a:srgbClr val="10AC84"/>
                </a:solidFill>
                <a:latin typeface="Calibri"/>
              </a:rPr>
              <a:t>•  </a:t>
            </a:r>
            <a:r>
              <a:rPr sz="2300" b="0" dirty="0" err="1">
                <a:solidFill>
                  <a:srgbClr val="333333"/>
                </a:solidFill>
                <a:latin typeface="Calibri"/>
              </a:rPr>
              <a:t>Painel</a:t>
            </a:r>
            <a:r>
              <a:rPr sz="2300" b="0" dirty="0">
                <a:solidFill>
                  <a:srgbClr val="333333"/>
                </a:solidFill>
                <a:latin typeface="Calibri"/>
              </a:rPr>
              <a:t> </a:t>
            </a:r>
            <a:r>
              <a:rPr sz="2300" b="0" dirty="0" err="1">
                <a:solidFill>
                  <a:srgbClr val="333333"/>
                </a:solidFill>
                <a:latin typeface="Calibri"/>
              </a:rPr>
              <a:t>Visualizações</a:t>
            </a:r>
            <a:r>
              <a:rPr sz="2300" b="0" dirty="0">
                <a:solidFill>
                  <a:srgbClr val="333333"/>
                </a:solidFill>
                <a:latin typeface="Calibri"/>
              </a:rPr>
              <a:t> — </a:t>
            </a:r>
            <a:r>
              <a:rPr sz="2300" b="0" dirty="0" err="1">
                <a:solidFill>
                  <a:srgbClr val="333333"/>
                </a:solidFill>
                <a:latin typeface="Calibri"/>
              </a:rPr>
              <a:t>tipos</a:t>
            </a:r>
            <a:r>
              <a:rPr sz="2300" b="0" dirty="0">
                <a:solidFill>
                  <a:srgbClr val="333333"/>
                </a:solidFill>
                <a:latin typeface="Calibri"/>
              </a:rPr>
              <a:t> de </a:t>
            </a:r>
            <a:r>
              <a:rPr sz="2300" b="0" dirty="0" err="1">
                <a:solidFill>
                  <a:srgbClr val="333333"/>
                </a:solidFill>
                <a:latin typeface="Calibri"/>
              </a:rPr>
              <a:t>gráfico</a:t>
            </a:r>
            <a:r>
              <a:rPr sz="2300" b="0" dirty="0">
                <a:solidFill>
                  <a:srgbClr val="333333"/>
                </a:solidFill>
                <a:latin typeface="Calibri"/>
              </a:rPr>
              <a:t> e </a:t>
            </a:r>
            <a:r>
              <a:rPr sz="2300" b="0" dirty="0" err="1">
                <a:solidFill>
                  <a:srgbClr val="333333"/>
                </a:solidFill>
                <a:latin typeface="Calibri"/>
              </a:rPr>
              <a:t>opções</a:t>
            </a:r>
            <a:r>
              <a:rPr sz="2300" b="0" dirty="0">
                <a:solidFill>
                  <a:srgbClr val="333333"/>
                </a:solidFill>
                <a:latin typeface="Calibri"/>
              </a:rPr>
              <a:t> de </a:t>
            </a:r>
            <a:r>
              <a:rPr sz="2300" b="0" dirty="0" err="1">
                <a:solidFill>
                  <a:srgbClr val="333333"/>
                </a:solidFill>
                <a:latin typeface="Calibri"/>
              </a:rPr>
              <a:t>formatação</a:t>
            </a:r>
            <a:endParaRPr lang="pt-BR" sz="2300" b="0" dirty="0">
              <a:solidFill>
                <a:srgbClr val="333333"/>
              </a:solidFill>
              <a:latin typeface="Calibri"/>
            </a:endParaRPr>
          </a:p>
          <a:p>
            <a:pPr>
              <a:spcAft>
                <a:spcPts val="800"/>
              </a:spcAft>
            </a:pPr>
            <a:br>
              <a:rPr lang="pt-BR" sz="2300" b="0" dirty="0">
                <a:solidFill>
                  <a:srgbClr val="333333"/>
                </a:solidFill>
                <a:latin typeface="Calibri"/>
              </a:rPr>
            </a:br>
            <a:r>
              <a:rPr lang="pt-BR" sz="2300" b="1" dirty="0">
                <a:solidFill>
                  <a:srgbClr val="EE5A24"/>
                </a:solidFill>
              </a:rPr>
              <a:t>•  </a:t>
            </a:r>
            <a:r>
              <a:rPr lang="pt-BR" sz="2300" dirty="0">
                <a:solidFill>
                  <a:srgbClr val="333333"/>
                </a:solidFill>
              </a:rPr>
              <a:t>Painel Dados — lista as tabelas e colunas disponíveis</a:t>
            </a:r>
          </a:p>
          <a:p>
            <a:pPr algn="l">
              <a:spcAft>
                <a:spcPts val="800"/>
              </a:spcAft>
            </a:pPr>
            <a:endParaRPr sz="2300" b="0" dirty="0">
              <a:solidFill>
                <a:srgbClr val="333333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300" b="1">
                <a:solidFill>
                  <a:srgbClr val="1F497D"/>
                </a:solidFill>
                <a:latin typeface="Calibri"/>
              </a:rPr>
              <a:t>Área de tela e o arquivo .pbix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Área de tela (canvas): espaço em branco onde os visuais são posicionados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Arquivo salvo com a extensão .pbix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Salvar com frequência: Ctrl+S ou Arquivo &gt; Salvar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3700000"/>
            <a:ext cx="1640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600" b="1">
                <a:solidFill>
                  <a:srgbClr val="1F497D"/>
                </a:solidFill>
                <a:latin typeface="Calibri"/>
              </a:rPr>
              <a:t>PRÓXIMO PASSO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4450000"/>
            <a:ext cx="1640000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4100" b="1">
                <a:solidFill>
                  <a:srgbClr val="333333"/>
                </a:solidFill>
                <a:latin typeface="Calibri"/>
              </a:rPr>
              <a:t>Conectando a dados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0000" y="6050000"/>
            <a:ext cx="16400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500" b="0">
                <a:solidFill>
                  <a:srgbClr val="1F497D"/>
                </a:solidFill>
                <a:latin typeface="Calibri"/>
              </a:rPr>
              <a:t>Hoje: Excel  ·  Na Aula 2: SQL Server, nuvem, APIs e mais conectores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300" b="1">
                <a:solidFill>
                  <a:srgbClr val="1F497D"/>
                </a:solidFill>
                <a:latin typeface="Calibri"/>
              </a:rPr>
              <a:t>Passo a passo: conectar ao Excel</a:t>
            </a:r>
          </a:p>
        </p:txBody>
      </p:sp>
      <p:pic>
        <p:nvPicPr>
          <p:cNvPr id="13" name="Captura Power BI Desktop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34782" y="3050000"/>
            <a:ext cx="7030435" cy="6300000"/>
          </a:xfrm>
          <a:prstGeom prst="rect">
            <a:avLst/>
          </a:prstGeom>
          <a:ln w="9525">
            <a:solidFill>
              <a:srgbClr val="CCCCCC"/>
            </a:solidFill>
          </a:ln>
        </p:spPr>
      </p:pic>
      <p:sp>
        <p:nvSpPr>
          <p:cNvPr id="12" name="TextBox 11"/>
          <p:cNvSpPr txBox="1"/>
          <p:nvPr/>
        </p:nvSpPr>
        <p:spPr>
          <a:xfrm>
            <a:off x="900000" y="3050000"/>
            <a:ext cx="8200000" cy="6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200" b="0">
                <a:solidFill>
                  <a:srgbClr val="333333"/>
                </a:solidFill>
                <a:latin typeface="Calibri"/>
              </a:rPr>
              <a:t>1. Página Inicial → Obter Dados → Excel</a:t>
            </a:r>
          </a:p>
          <a:p>
            <a:pPr algn="l">
              <a:spcAft>
                <a:spcPts val="800"/>
              </a:spcAft>
            </a:pPr>
            <a:r>
              <a:rPr sz="2200" b="0">
                <a:solidFill>
                  <a:srgbClr val="333333"/>
                </a:solidFill>
                <a:latin typeface="Calibri"/>
              </a:rPr>
              <a:t>2. Selecionar o arquivo "Aula 1 - Dados de Exemplo - Vendas.xlsx"</a:t>
            </a:r>
          </a:p>
          <a:p>
            <a:pPr algn="l">
              <a:spcAft>
                <a:spcPts val="800"/>
              </a:spcAft>
            </a:pPr>
            <a:r>
              <a:rPr sz="2200" b="0">
                <a:solidFill>
                  <a:srgbClr val="333333"/>
                </a:solidFill>
                <a:latin typeface="Calibri"/>
              </a:rPr>
              <a:t>3. Marcar a planilha "Vendas" na janela do Navegador</a:t>
            </a:r>
          </a:p>
          <a:p>
            <a:pPr algn="l">
              <a:spcAft>
                <a:spcPts val="800"/>
              </a:spcAft>
            </a:pPr>
            <a:r>
              <a:rPr sz="2200" b="0">
                <a:solidFill>
                  <a:srgbClr val="333333"/>
                </a:solidFill>
                <a:latin typeface="Calibri"/>
              </a:rPr>
              <a:t>4. Clicar em Carregar</a:t>
            </a:r>
          </a:p>
          <a:p>
            <a:pPr algn="l">
              <a:spcAft>
                <a:spcPts val="800"/>
              </a:spcAft>
            </a:pPr>
            <a:r>
              <a:rPr sz="2200" b="0">
                <a:solidFill>
                  <a:srgbClr val="333333"/>
                </a:solidFill>
                <a:latin typeface="Calibri"/>
              </a:rPr>
              <a:t>5. Abrir a visão de Dados e conferir a tabela carregada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300" b="1">
                <a:solidFill>
                  <a:srgbClr val="1F497D"/>
                </a:solidFill>
                <a:latin typeface="Calibri"/>
              </a:rPr>
              <a:t>Criando sua primeira visualização</a:t>
            </a:r>
          </a:p>
        </p:txBody>
      </p:sp>
      <p:pic>
        <p:nvPicPr>
          <p:cNvPr id="13" name="Captura Power BI Desktop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25929" y="4610100"/>
            <a:ext cx="8693427" cy="3124200"/>
          </a:xfrm>
          <a:prstGeom prst="rect">
            <a:avLst/>
          </a:prstGeom>
          <a:ln w="9525">
            <a:solidFill>
              <a:srgbClr val="CCCCCC"/>
            </a:solidFill>
          </a:ln>
        </p:spPr>
      </p:pic>
      <p:sp>
        <p:nvSpPr>
          <p:cNvPr id="12" name="TextBox 11"/>
          <p:cNvSpPr txBox="1"/>
          <p:nvPr/>
        </p:nvSpPr>
        <p:spPr>
          <a:xfrm>
            <a:off x="900000" y="3050000"/>
            <a:ext cx="8200000" cy="6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200" b="0" dirty="0">
                <a:solidFill>
                  <a:srgbClr val="333333"/>
                </a:solidFill>
                <a:latin typeface="Calibri"/>
              </a:rPr>
              <a:t>1. </a:t>
            </a:r>
            <a:r>
              <a:rPr sz="2200" b="0" dirty="0" err="1">
                <a:solidFill>
                  <a:srgbClr val="333333"/>
                </a:solidFill>
                <a:latin typeface="Calibri"/>
              </a:rPr>
              <a:t>Selecionar</a:t>
            </a:r>
            <a:r>
              <a:rPr sz="2200" b="0" dirty="0">
                <a:solidFill>
                  <a:srgbClr val="333333"/>
                </a:solidFill>
                <a:latin typeface="Calibri"/>
              </a:rPr>
              <a:t> o visual de </a:t>
            </a:r>
            <a:r>
              <a:rPr sz="2200" b="0" dirty="0" err="1">
                <a:solidFill>
                  <a:srgbClr val="333333"/>
                </a:solidFill>
                <a:latin typeface="Calibri"/>
              </a:rPr>
              <a:t>Gráfico</a:t>
            </a:r>
            <a:r>
              <a:rPr sz="2200" b="0" dirty="0">
                <a:solidFill>
                  <a:srgbClr val="333333"/>
                </a:solidFill>
                <a:latin typeface="Calibri"/>
              </a:rPr>
              <a:t> de </a:t>
            </a:r>
            <a:r>
              <a:rPr sz="2200" b="0" dirty="0" err="1">
                <a:solidFill>
                  <a:srgbClr val="333333"/>
                </a:solidFill>
                <a:latin typeface="Calibri"/>
              </a:rPr>
              <a:t>Colunas</a:t>
            </a:r>
            <a:r>
              <a:rPr sz="2200" b="0" dirty="0">
                <a:solidFill>
                  <a:srgbClr val="333333"/>
                </a:solidFill>
                <a:latin typeface="Calibri"/>
              </a:rPr>
              <a:t> no </a:t>
            </a:r>
            <a:r>
              <a:rPr sz="2200" b="0" dirty="0" err="1">
                <a:solidFill>
                  <a:srgbClr val="333333"/>
                </a:solidFill>
                <a:latin typeface="Calibri"/>
              </a:rPr>
              <a:t>painel</a:t>
            </a:r>
            <a:r>
              <a:rPr sz="2200" b="0" dirty="0">
                <a:solidFill>
                  <a:srgbClr val="333333"/>
                </a:solidFill>
                <a:latin typeface="Calibri"/>
              </a:rPr>
              <a:t> </a:t>
            </a:r>
            <a:r>
              <a:rPr sz="2200" b="0" dirty="0" err="1">
                <a:solidFill>
                  <a:srgbClr val="333333"/>
                </a:solidFill>
                <a:latin typeface="Calibri"/>
              </a:rPr>
              <a:t>Visualizações</a:t>
            </a:r>
            <a:endParaRPr sz="2200" b="0" dirty="0">
              <a:solidFill>
                <a:srgbClr val="333333"/>
              </a:solidFill>
              <a:latin typeface="Calibri"/>
            </a:endParaRPr>
          </a:p>
          <a:p>
            <a:pPr algn="l">
              <a:spcAft>
                <a:spcPts val="800"/>
              </a:spcAft>
            </a:pPr>
            <a:r>
              <a:rPr sz="2200" b="0" dirty="0">
                <a:solidFill>
                  <a:srgbClr val="333333"/>
                </a:solidFill>
                <a:latin typeface="Calibri"/>
              </a:rPr>
              <a:t>2. </a:t>
            </a:r>
            <a:r>
              <a:rPr sz="2200" b="0" dirty="0" err="1">
                <a:solidFill>
                  <a:srgbClr val="333333"/>
                </a:solidFill>
                <a:latin typeface="Calibri"/>
              </a:rPr>
              <a:t>Arrastar</a:t>
            </a:r>
            <a:r>
              <a:rPr sz="2200" b="0" dirty="0">
                <a:solidFill>
                  <a:srgbClr val="333333"/>
                </a:solidFill>
                <a:latin typeface="Calibri"/>
              </a:rPr>
              <a:t> o campo "</a:t>
            </a:r>
            <a:r>
              <a:rPr sz="2200" b="0" dirty="0" err="1">
                <a:solidFill>
                  <a:srgbClr val="333333"/>
                </a:solidFill>
                <a:latin typeface="Calibri"/>
              </a:rPr>
              <a:t>Região</a:t>
            </a:r>
            <a:r>
              <a:rPr sz="2200" b="0" dirty="0">
                <a:solidFill>
                  <a:srgbClr val="333333"/>
                </a:solidFill>
                <a:latin typeface="Calibri"/>
              </a:rPr>
              <a:t>" para o </a:t>
            </a:r>
            <a:r>
              <a:rPr sz="2200" b="0" dirty="0" err="1">
                <a:solidFill>
                  <a:srgbClr val="333333"/>
                </a:solidFill>
                <a:latin typeface="Calibri"/>
              </a:rPr>
              <a:t>Eixo</a:t>
            </a:r>
            <a:r>
              <a:rPr sz="2200" b="0" dirty="0">
                <a:solidFill>
                  <a:srgbClr val="333333"/>
                </a:solidFill>
                <a:latin typeface="Calibri"/>
              </a:rPr>
              <a:t> X</a:t>
            </a:r>
          </a:p>
          <a:p>
            <a:pPr algn="l">
              <a:spcAft>
                <a:spcPts val="800"/>
              </a:spcAft>
            </a:pPr>
            <a:r>
              <a:rPr sz="2200" b="0" dirty="0">
                <a:solidFill>
                  <a:srgbClr val="333333"/>
                </a:solidFill>
                <a:latin typeface="Calibri"/>
              </a:rPr>
              <a:t>3. </a:t>
            </a:r>
            <a:r>
              <a:rPr sz="2200" b="0" dirty="0" err="1">
                <a:solidFill>
                  <a:srgbClr val="333333"/>
                </a:solidFill>
                <a:latin typeface="Calibri"/>
              </a:rPr>
              <a:t>Arrastar</a:t>
            </a:r>
            <a:r>
              <a:rPr sz="2200" b="0" dirty="0">
                <a:solidFill>
                  <a:srgbClr val="333333"/>
                </a:solidFill>
                <a:latin typeface="Calibri"/>
              </a:rPr>
              <a:t> o campo "Valor Total" para Valores</a:t>
            </a:r>
          </a:p>
          <a:p>
            <a:pPr algn="l">
              <a:spcAft>
                <a:spcPts val="800"/>
              </a:spcAft>
            </a:pPr>
            <a:r>
              <a:rPr sz="2200" b="0" dirty="0">
                <a:solidFill>
                  <a:srgbClr val="333333"/>
                </a:solidFill>
                <a:latin typeface="Calibri"/>
              </a:rPr>
              <a:t>4. </a:t>
            </a:r>
            <a:r>
              <a:rPr sz="2200" b="0" dirty="0" err="1">
                <a:solidFill>
                  <a:srgbClr val="333333"/>
                </a:solidFill>
                <a:latin typeface="Calibri"/>
              </a:rPr>
              <a:t>Observar</a:t>
            </a:r>
            <a:r>
              <a:rPr sz="2200" b="0" dirty="0">
                <a:solidFill>
                  <a:srgbClr val="333333"/>
                </a:solidFill>
                <a:latin typeface="Calibri"/>
              </a:rPr>
              <a:t> o total de </a:t>
            </a:r>
            <a:r>
              <a:rPr sz="2200" b="0" dirty="0" err="1">
                <a:solidFill>
                  <a:srgbClr val="333333"/>
                </a:solidFill>
                <a:latin typeface="Calibri"/>
              </a:rPr>
              <a:t>vendas</a:t>
            </a:r>
            <a:r>
              <a:rPr sz="2200" b="0" dirty="0">
                <a:solidFill>
                  <a:srgbClr val="333333"/>
                </a:solidFill>
                <a:latin typeface="Calibri"/>
              </a:rPr>
              <a:t> </a:t>
            </a:r>
            <a:r>
              <a:rPr sz="2200" b="0" dirty="0" err="1">
                <a:solidFill>
                  <a:srgbClr val="333333"/>
                </a:solidFill>
                <a:latin typeface="Calibri"/>
              </a:rPr>
              <a:t>somado</a:t>
            </a:r>
            <a:r>
              <a:rPr sz="2200" b="0" dirty="0">
                <a:solidFill>
                  <a:srgbClr val="333333"/>
                </a:solidFill>
                <a:latin typeface="Calibri"/>
              </a:rPr>
              <a:t> </a:t>
            </a:r>
            <a:r>
              <a:rPr sz="2200" b="0" dirty="0" err="1">
                <a:solidFill>
                  <a:srgbClr val="333333"/>
                </a:solidFill>
                <a:latin typeface="Calibri"/>
              </a:rPr>
              <a:t>automaticamente</a:t>
            </a:r>
            <a:r>
              <a:rPr sz="2200" b="0" dirty="0">
                <a:solidFill>
                  <a:srgbClr val="333333"/>
                </a:solidFill>
                <a:latin typeface="Calibri"/>
              </a:rPr>
              <a:t> </a:t>
            </a:r>
            <a:r>
              <a:rPr sz="2200" b="0" dirty="0" err="1">
                <a:solidFill>
                  <a:srgbClr val="333333"/>
                </a:solidFill>
                <a:latin typeface="Calibri"/>
              </a:rPr>
              <a:t>por</a:t>
            </a:r>
            <a:r>
              <a:rPr sz="2200" b="0" dirty="0">
                <a:solidFill>
                  <a:srgbClr val="333333"/>
                </a:solidFill>
                <a:latin typeface="Calibri"/>
              </a:rPr>
              <a:t> </a:t>
            </a:r>
            <a:r>
              <a:rPr sz="2200" b="0" dirty="0" err="1">
                <a:solidFill>
                  <a:srgbClr val="333333"/>
                </a:solidFill>
                <a:latin typeface="Calibri"/>
              </a:rPr>
              <a:t>região</a:t>
            </a:r>
            <a:endParaRPr sz="2200" b="0" dirty="0">
              <a:solidFill>
                <a:srgbClr val="333333"/>
              </a:solidFill>
              <a:latin typeface="Calibri"/>
            </a:endParaRPr>
          </a:p>
          <a:p>
            <a:r>
              <a:rPr sz="2200" b="1">
                <a:solidFill>
                  <a:srgbClr val="333333"/>
                </a:solidFill>
                <a:latin typeface="Calibri"/>
              </a:rPr>
              <a:t>Por que assim? </a:t>
            </a:r>
            <a:r>
              <a:rPr sz="2200" b="0" i="1">
                <a:solidFill>
                  <a:srgbClr val="333333"/>
                </a:solidFill>
                <a:latin typeface="Calibri"/>
              </a:rPr>
              <a:t>Colunas comparam valores entre categorias: cada categoria vira uma coluna no Eixo X, e a altura dela (Eixo Y/Valores) mostra a quantidade — assim dá pra comparar visualmente qual é maior.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3700000"/>
            <a:ext cx="1640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600" b="1">
                <a:solidFill>
                  <a:srgbClr val="1F497D"/>
                </a:solidFill>
                <a:latin typeface="Calibri"/>
              </a:rPr>
              <a:t>MÃO NA MASSA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4450000"/>
            <a:ext cx="1640000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900" b="1">
                <a:solidFill>
                  <a:srgbClr val="333333"/>
                </a:solidFill>
                <a:latin typeface="Calibri"/>
              </a:rPr>
              <a:t>Atividade prática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300" b="1">
                <a:solidFill>
                  <a:srgbClr val="1F497D"/>
                </a:solidFill>
                <a:latin typeface="Calibri"/>
              </a:rPr>
              <a:t>Atividade prática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Arquivo: "Aula 1 - Dados de Exemplo - Vendas.xlsx"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Repita sozinho(a) (ou em dupla) a conexão que acabamos de demonstrar: conectar e carregar a tabela "Vendas"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Criar um visual de Total de Vendas por Vendedor</a:t>
            </a:r>
            <a:r>
              <a:rPr sz="1800" i="1">
                <a:solidFill>
                  <a:srgbClr val="7A7A7A"/>
                </a:solidFill>
                <a:latin typeface="Calibri"/>
              </a:rPr>
              <a:t>  (Colunas)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Criar um visual de Quantidade por Categoria</a:t>
            </a:r>
            <a:r>
              <a:rPr sz="1800" i="1">
                <a:solidFill>
                  <a:srgbClr val="7A7A7A"/>
                </a:solidFill>
                <a:latin typeface="Calibri"/>
              </a:rPr>
              <a:t>  (Colunas ou Pizza)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Desafio extra: Total de Vendas por Canal de Venda</a:t>
            </a:r>
            <a:r>
              <a:rPr sz="1800" i="1">
                <a:solidFill>
                  <a:srgbClr val="7A7A7A"/>
                </a:solidFill>
                <a:latin typeface="Calibri"/>
              </a:rPr>
              <a:t>  (Cartões)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Salvar como "Aula1_SeuNome.pbix"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300" b="1">
                <a:solidFill>
                  <a:srgbClr val="1F497D"/>
                </a:solidFill>
                <a:latin typeface="Calibri"/>
              </a:rPr>
              <a:t>Checklist da atividade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Conectou ao arquivo e carregou os dados com sucesso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Consegue explicar o que aparece na visão de Dados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Criou pelo menos 2 visualizações diferentes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Salvou o arquivo com o nome padrão combinado em aula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300" b="1">
                <a:solidFill>
                  <a:srgbClr val="1F497D"/>
                </a:solidFill>
                <a:latin typeface="Calibri"/>
              </a:rPr>
              <a:t>Glossário desta aula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6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300" b="1">
                <a:solidFill>
                  <a:srgbClr val="1F497D"/>
                </a:solidFill>
                <a:latin typeface="Calibri"/>
              </a:rPr>
              <a:t>•  BI (Business Intelligence)</a:t>
            </a:r>
          </a:p>
          <a:p>
            <a:pPr algn="l">
              <a:spcAft>
                <a:spcPts val="800"/>
              </a:spcAft>
            </a:pPr>
            <a:r>
              <a:rPr sz="2100" b="0">
                <a:solidFill>
                  <a:srgbClr val="333333"/>
                </a:solidFill>
                <a:latin typeface="Calibri"/>
              </a:rPr>
              <a:t>Conjunto de práticas e ferramentas para transformar dados em informação útil para decisões.</a:t>
            </a:r>
          </a:p>
          <a:p>
            <a:pPr algn="l">
              <a:spcAft>
                <a:spcPts val="800"/>
              </a:spcAft>
            </a:pPr>
            <a:r>
              <a:rPr sz="2300" b="1">
                <a:solidFill>
                  <a:srgbClr val="1F497D"/>
                </a:solidFill>
                <a:latin typeface="Calibri"/>
              </a:rPr>
              <a:t>•  Dashboard</a:t>
            </a:r>
          </a:p>
          <a:p>
            <a:pPr algn="l">
              <a:spcAft>
                <a:spcPts val="800"/>
              </a:spcAft>
            </a:pPr>
            <a:r>
              <a:rPr sz="2100" b="0">
                <a:solidFill>
                  <a:srgbClr val="333333"/>
                </a:solidFill>
                <a:latin typeface="Calibri"/>
              </a:rPr>
              <a:t>Painel visual que reúne indicadores e gráficos para acompanhamento rápido de um assunto.</a:t>
            </a:r>
          </a:p>
          <a:p>
            <a:pPr algn="l">
              <a:spcAft>
                <a:spcPts val="800"/>
              </a:spcAft>
            </a:pPr>
            <a:r>
              <a:rPr sz="2300" b="1">
                <a:solidFill>
                  <a:srgbClr val="1F497D"/>
                </a:solidFill>
                <a:latin typeface="Calibri"/>
              </a:rPr>
              <a:t>•  Relatório</a:t>
            </a:r>
          </a:p>
          <a:p>
            <a:pPr algn="l">
              <a:spcAft>
                <a:spcPts val="800"/>
              </a:spcAft>
            </a:pPr>
            <a:r>
              <a:rPr sz="2100" b="0">
                <a:solidFill>
                  <a:srgbClr val="333333"/>
                </a:solidFill>
                <a:latin typeface="Calibri"/>
              </a:rPr>
              <a:t>No Power BI, o conjunto de páginas com visuais construído no Desktop e publicado no Service.</a:t>
            </a:r>
          </a:p>
          <a:p>
            <a:pPr algn="l">
              <a:spcAft>
                <a:spcPts val="800"/>
              </a:spcAft>
            </a:pPr>
            <a:r>
              <a:rPr sz="2300" b="1">
                <a:solidFill>
                  <a:srgbClr val="1F497D"/>
                </a:solidFill>
                <a:latin typeface="Calibri"/>
              </a:rPr>
              <a:t>•  Dataset (conjunto de dados)</a:t>
            </a:r>
          </a:p>
          <a:p>
            <a:pPr algn="l">
              <a:spcAft>
                <a:spcPts val="800"/>
              </a:spcAft>
            </a:pPr>
            <a:r>
              <a:rPr sz="2100" b="0">
                <a:solidFill>
                  <a:srgbClr val="333333"/>
                </a:solidFill>
                <a:latin typeface="Calibri"/>
              </a:rPr>
              <a:t>Os dados carregados e modelados dentro de um arquivo do Power BI.</a:t>
            </a:r>
          </a:p>
          <a:p>
            <a:pPr algn="l">
              <a:spcAft>
                <a:spcPts val="800"/>
              </a:spcAft>
            </a:pPr>
            <a:r>
              <a:rPr sz="2300" b="1">
                <a:solidFill>
                  <a:srgbClr val="1F497D"/>
                </a:solidFill>
                <a:latin typeface="Calibri"/>
              </a:rPr>
              <a:t>•  Medida</a:t>
            </a:r>
          </a:p>
          <a:p>
            <a:pPr algn="l">
              <a:spcAft>
                <a:spcPts val="800"/>
              </a:spcAft>
            </a:pPr>
            <a:r>
              <a:rPr sz="2100" b="0">
                <a:solidFill>
                  <a:srgbClr val="333333"/>
                </a:solidFill>
                <a:latin typeface="Calibri"/>
              </a:rPr>
              <a:t>Cálculo (soma, média, contagem) definido em DAX, usado nos visuais. Veremos em detalhe na Aula 3.</a:t>
            </a:r>
          </a:p>
          <a:p>
            <a:pPr algn="l">
              <a:spcAft>
                <a:spcPts val="800"/>
              </a:spcAft>
            </a:pPr>
            <a:r>
              <a:rPr sz="2300" b="1">
                <a:solidFill>
                  <a:srgbClr val="1F497D"/>
                </a:solidFill>
                <a:latin typeface="Calibri"/>
              </a:rPr>
              <a:t>•  .pbix</a:t>
            </a:r>
          </a:p>
          <a:p>
            <a:pPr algn="l">
              <a:spcAft>
                <a:spcPts val="800"/>
              </a:spcAft>
            </a:pPr>
            <a:r>
              <a:rPr sz="2100" b="0">
                <a:solidFill>
                  <a:srgbClr val="333333"/>
                </a:solidFill>
                <a:latin typeface="Calibri"/>
              </a:rPr>
              <a:t>Extensão do arquivo salvo pelo Power BI Desktop.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300" b="1">
                <a:solidFill>
                  <a:srgbClr val="1F497D"/>
                </a:solidFill>
                <a:latin typeface="Calibri"/>
              </a:rPr>
              <a:t>O que vimos hoje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O que é BI e onde o Power BI se encaixa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Os três componentes do ecossistema Power BI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A interface do Power BI Desktop e as três visões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Como conectar a uma planilha Excel e carregar dados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Como criar uma primeira visualização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Próxima aula (02/09): conectores de dados e Power Query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37435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Freeform 2"/>
          <p:cNvSpPr/>
          <p:nvPr/>
        </p:nvSpPr>
        <p:spPr>
          <a:xfrm>
            <a:off x="0" y="-18120"/>
            <a:ext cx="10078328" cy="6744870"/>
          </a:xfrm>
          <a:custGeom>
            <a:avLst/>
            <a:gdLst/>
            <a:ahLst/>
            <a:cxnLst/>
            <a:rect l="l" t="t" r="r" b="b"/>
            <a:pathLst>
              <a:path w="10078328" h="6744870">
                <a:moveTo>
                  <a:pt x="0" y="0"/>
                </a:moveTo>
                <a:lnTo>
                  <a:pt x="10078328" y="0"/>
                </a:lnTo>
                <a:lnTo>
                  <a:pt x="10078328" y="6744869"/>
                </a:lnTo>
                <a:lnTo>
                  <a:pt x="0" y="6744869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23801" t="-21813" r="-21128"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3" name="TextBox 3"/>
          <p:cNvSpPr txBox="1"/>
          <p:nvPr/>
        </p:nvSpPr>
        <p:spPr>
          <a:xfrm>
            <a:off x="10078328" y="3794931"/>
            <a:ext cx="7629482" cy="99033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8400"/>
              </a:lnSpc>
              <a:spcBef>
                <a:spcPct val="0"/>
              </a:spcBef>
            </a:pPr>
            <a:r>
              <a:rPr lang="en-US" sz="5400" dirty="0" err="1">
                <a:solidFill>
                  <a:srgbClr val="FFFFFF"/>
                </a:solidFill>
                <a:latin typeface="Unbounded 1 Ultra-Bold"/>
              </a:rPr>
              <a:t>Gratidão</a:t>
            </a:r>
            <a:r>
              <a:rPr lang="en-US" sz="5400" dirty="0">
                <a:solidFill>
                  <a:srgbClr val="FFFFFF"/>
                </a:solidFill>
                <a:latin typeface="Unbounded 1 Ultra-Bold"/>
              </a:rPr>
              <a:t>!</a:t>
            </a:r>
          </a:p>
        </p:txBody>
      </p:sp>
      <p:sp>
        <p:nvSpPr>
          <p:cNvPr id="7" name="Freeform 4"/>
          <p:cNvSpPr/>
          <p:nvPr/>
        </p:nvSpPr>
        <p:spPr>
          <a:xfrm>
            <a:off x="3177634" y="-162759"/>
            <a:ext cx="6443388" cy="6889508"/>
          </a:xfrm>
          <a:custGeom>
            <a:avLst/>
            <a:gdLst/>
            <a:ahLst/>
            <a:cxnLst/>
            <a:rect l="l" t="t" r="r" b="b"/>
            <a:pathLst>
              <a:path w="6443388" h="6889508">
                <a:moveTo>
                  <a:pt x="0" y="0"/>
                </a:moveTo>
                <a:lnTo>
                  <a:pt x="6443389" y="0"/>
                </a:lnTo>
                <a:lnTo>
                  <a:pt x="6443389" y="6889508"/>
                </a:lnTo>
                <a:lnTo>
                  <a:pt x="0" y="6889508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b="-2099"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5" name="Freeform 5"/>
          <p:cNvSpPr/>
          <p:nvPr/>
        </p:nvSpPr>
        <p:spPr>
          <a:xfrm>
            <a:off x="0" y="3794931"/>
            <a:ext cx="9304949" cy="5863637"/>
          </a:xfrm>
          <a:custGeom>
            <a:avLst/>
            <a:gdLst/>
            <a:ahLst/>
            <a:cxnLst/>
            <a:rect l="l" t="t" r="r" b="b"/>
            <a:pathLst>
              <a:path w="9304949" h="5863637">
                <a:moveTo>
                  <a:pt x="0" y="0"/>
                </a:moveTo>
                <a:lnTo>
                  <a:pt x="9304949" y="0"/>
                </a:lnTo>
                <a:lnTo>
                  <a:pt x="9304949" y="5863637"/>
                </a:lnTo>
                <a:lnTo>
                  <a:pt x="0" y="5863637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1_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o" ma:contentTypeID="0x0101009FC40EC0FA74E64E8146614CB730A4D9" ma:contentTypeVersion="18" ma:contentTypeDescription="Crie um novo documento." ma:contentTypeScope="" ma:versionID="64e3dda2b1a63d799175312bc15f4ace">
  <xsd:schema xmlns:xsd="http://www.w3.org/2001/XMLSchema" xmlns:xs="http://www.w3.org/2001/XMLSchema" xmlns:p="http://schemas.microsoft.com/office/2006/metadata/properties" xmlns:ns2="f61705dd-dd2d-4ab9-9bbf-49e0d21b9022" xmlns:ns3="0798beb3-9d6a-467b-b776-ccfc93473710" targetNamespace="http://schemas.microsoft.com/office/2006/metadata/properties" ma:root="true" ma:fieldsID="483aaa94bd3aaf7c48ed0e08118cf103" ns2:_="" ns3:_="">
    <xsd:import namespace="f61705dd-dd2d-4ab9-9bbf-49e0d21b9022"/>
    <xsd:import namespace="0798beb3-9d6a-467b-b776-ccfc93473710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DateTaken" minOccurs="0"/>
                <xsd:element ref="ns2:MediaServiceAutoTags" minOccurs="0"/>
                <xsd:element ref="ns2:MediaServiceGenerationTime" minOccurs="0"/>
                <xsd:element ref="ns2:MediaServiceEventHashCode" minOccurs="0"/>
                <xsd:element ref="ns2:MediaServiceOCR" minOccurs="0"/>
                <xsd:element ref="ns3:SharedWithUsers" minOccurs="0"/>
                <xsd:element ref="ns3:SharedWithDetails" minOccurs="0"/>
                <xsd:element ref="ns2:MediaServiceLocation" minOccurs="0"/>
                <xsd:element ref="ns2:MediaServiceAutoKeyPoints" minOccurs="0"/>
                <xsd:element ref="ns2:MediaServiceKeyPoints" minOccurs="0"/>
                <xsd:element ref="ns2:MediaLengthInSeconds" minOccurs="0"/>
                <xsd:element ref="ns2:lcf76f155ced4ddcb4097134ff3c332f" minOccurs="0"/>
                <xsd:element ref="ns3:TaxCatchAll" minOccurs="0"/>
                <xsd:element ref="ns2:MediaServiceObjectDetectorVersions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f61705dd-dd2d-4ab9-9bbf-49e0d21b9022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DateTaken" ma:index="10" nillable="true" ma:displayName="MediaServiceDateTaken" ma:hidden="true" ma:internalName="MediaServiceDateTaken" ma:readOnly="true">
      <xsd:simpleType>
        <xsd:restriction base="dms:Text"/>
      </xsd:simpleType>
    </xsd:element>
    <xsd:element name="MediaServiceAutoTags" ma:index="11" nillable="true" ma:displayName="Tags" ma:internalName="MediaServiceAutoTags" ma:readOnly="true">
      <xsd:simpleType>
        <xsd:restriction base="dms:Text"/>
      </xsd:simpleType>
    </xsd:element>
    <xsd:element name="MediaServiceGenerationTime" ma:index="12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3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OCR" ma:index="14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Location" ma:index="17" nillable="true" ma:displayName="Location" ma:internalName="MediaServiceLocation" ma:readOnly="true">
      <xsd:simpleType>
        <xsd:restriction base="dms:Text"/>
      </xsd:simpleType>
    </xsd:element>
    <xsd:element name="MediaServiceAutoKeyPoints" ma:index="18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9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LengthInSeconds" ma:index="20" nillable="true" ma:displayName="Length (seconds)" ma:internalName="MediaLengthInSeconds" ma:readOnly="true">
      <xsd:simpleType>
        <xsd:restriction base="dms:Unknown"/>
      </xsd:simpleType>
    </xsd:element>
    <xsd:element name="lcf76f155ced4ddcb4097134ff3c332f" ma:index="22" nillable="true" ma:taxonomy="true" ma:internalName="lcf76f155ced4ddcb4097134ff3c332f" ma:taxonomyFieldName="MediaServiceImageTags" ma:displayName="Marcações de imagem" ma:readOnly="false" ma:fieldId="{5cf76f15-5ced-4ddc-b409-7134ff3c332f}" ma:taxonomyMulti="true" ma:sspId="11000289-e8e0-4655-aaa4-6ce2e2879be2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bjectDetectorVersions" ma:index="24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25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0798beb3-9d6a-467b-b776-ccfc93473710" elementFormDefault="qualified">
    <xsd:import namespace="http://schemas.microsoft.com/office/2006/documentManagement/types"/>
    <xsd:import namespace="http://schemas.microsoft.com/office/infopath/2007/PartnerControls"/>
    <xsd:element name="SharedWithUsers" ma:index="15" nillable="true" ma:displayName="Compartilhado com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6" nillable="true" ma:displayName="Detalhes de Compartilhado Com" ma:internalName="SharedWithDetails" ma:readOnly="true">
      <xsd:simpleType>
        <xsd:restriction base="dms:Note">
          <xsd:maxLength value="255"/>
        </xsd:restriction>
      </xsd:simpleType>
    </xsd:element>
    <xsd:element name="TaxCatchAll" ma:index="23" nillable="true" ma:displayName="Taxonomy Catch All Column" ma:hidden="true" ma:list="{560c32b9-b3cd-4e58-8615-6ab9f3400046}" ma:internalName="TaxCatchAll" ma:showField="CatchAllData" ma:web="0798beb3-9d6a-467b-b776-ccfc93473710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ipo de Conteúdo"/>
        <xsd:element ref="dc:title" minOccurs="0" maxOccurs="1" ma:index="4" ma:displayName="Título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58197250-31A0-4980-994A-4E66396C8571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D3136358-B574-409C-9149-8485FB1C6F78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f61705dd-dd2d-4ab9-9bbf-49e0d21b9022"/>
    <ds:schemaRef ds:uri="0798beb3-9d6a-467b-b776-ccfc93473710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10964</TotalTime>
  <Words>1170</Words>
  <Application>Microsoft Office PowerPoint</Application>
  <PresentationFormat>Personalizar</PresentationFormat>
  <Paragraphs>128</Paragraphs>
  <Slides>24</Slides>
  <Notes>0</Notes>
  <HiddenSlides>0</HiddenSlides>
  <MMClips>0</MMClips>
  <ScaleCrop>false</ScaleCrop>
  <HeadingPairs>
    <vt:vector size="6" baseType="variant">
      <vt:variant>
        <vt:lpstr>Fontes usadas</vt:lpstr>
      </vt:variant>
      <vt:variant>
        <vt:i4>3</vt:i4>
      </vt:variant>
      <vt:variant>
        <vt:lpstr>Tema</vt:lpstr>
      </vt:variant>
      <vt:variant>
        <vt:i4>2</vt:i4>
      </vt:variant>
      <vt:variant>
        <vt:lpstr>Títulos de slides</vt:lpstr>
      </vt:variant>
      <vt:variant>
        <vt:i4>24</vt:i4>
      </vt:variant>
    </vt:vector>
  </HeadingPairs>
  <TitlesOfParts>
    <vt:vector size="29" baseType="lpstr">
      <vt:lpstr>Calibri</vt:lpstr>
      <vt:lpstr>Arial</vt:lpstr>
      <vt:lpstr>Unbounded 1 Ultra-Bold</vt:lpstr>
      <vt:lpstr>Office Theme</vt:lpstr>
      <vt:lpstr>1_Office Theme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TEMPLATE APRESENTAÇÃO SENAI</dc:title>
  <dc:creator>Alisson de Oliveira da Guia</dc:creator>
  <cp:lastModifiedBy>Natanael Santos De Jesus</cp:lastModifiedBy>
  <cp:revision>17</cp:revision>
  <dcterms:created xsi:type="dcterms:W3CDTF">2006-08-16T00:00:00Z</dcterms:created>
  <dcterms:modified xsi:type="dcterms:W3CDTF">2026-08-29T14:17:11Z</dcterms:modified>
  <dc:identifier>DAGGnDa8uXQ</dc:identifier>
</cp:coreProperties>
</file>